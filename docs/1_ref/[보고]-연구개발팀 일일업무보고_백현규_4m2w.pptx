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609" r:id="rId2"/>
    <p:sldId id="737" r:id="rId3"/>
    <p:sldId id="690" r:id="rId4"/>
    <p:sldId id="691" r:id="rId5"/>
    <p:sldId id="710" r:id="rId6"/>
    <p:sldId id="692" r:id="rId7"/>
    <p:sldId id="712" r:id="rId8"/>
    <p:sldId id="736" r:id="rId9"/>
    <p:sldId id="746" r:id="rId10"/>
    <p:sldId id="700" r:id="rId11"/>
    <p:sldId id="701" r:id="rId12"/>
    <p:sldId id="702" r:id="rId13"/>
    <p:sldId id="708" r:id="rId14"/>
    <p:sldId id="704" r:id="rId15"/>
    <p:sldId id="705" r:id="rId16"/>
    <p:sldId id="742" r:id="rId17"/>
    <p:sldId id="743" r:id="rId18"/>
    <p:sldId id="744" r:id="rId19"/>
    <p:sldId id="745" r:id="rId20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928EE2-BF66-1E38-E5AC-CC9E1AC78C41}" name="지훈 이" initials="지이" userId="73d362ce8176174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BCD54"/>
    <a:srgbClr val="5DED5D"/>
    <a:srgbClr val="16BC16"/>
    <a:srgbClr val="0B610B"/>
    <a:srgbClr val="1AE41A"/>
    <a:srgbClr val="AD4ADA"/>
    <a:srgbClr val="21A4F3"/>
    <a:srgbClr val="F37021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1950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4BD3E-41C7-4878-A423-6A572F44E9C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90C82-F6EB-4B9D-B2BC-816B18349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809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F207A-FAE5-12F6-7C6B-F2BE7A41F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D30617-6D84-0A71-D65D-215D5AC8C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68328-C78C-6FF1-2F02-0A575758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A61E1-DC8C-2F63-A741-3E3EF5F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BA9D96-8895-B432-4575-6CECB8733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18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A0C1-1EDA-178D-CA5C-F0C98BAB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7AF306-E109-46F8-A64B-3B72AE50B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31008A-48B7-E065-0F58-02825D9D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46B05-5D4E-8504-8695-4651E9181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E5FA50-BC33-E657-D0FA-BB17B6BF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25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43F95-05EC-D830-537A-48417380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E76EB9-BF4D-7559-4451-FAE9EF124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5B49F-661E-2B94-315F-F24DBF92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A3DAB5-2393-975B-95A3-6A5DEF26E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3E7316-7084-9E25-DEA1-40665558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480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F71CC-365D-F3EA-AE73-EEE1E3758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61D0AB-3CF3-E0A9-8A88-81D229BF6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D6139F-D305-1188-ECBF-6BCC90AF5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6D49A4-0583-1000-AC73-D6AC4895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AC90A5-2361-5DFE-23E2-AF1D78A8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D84F7D-1952-C5A6-958F-624EA4B41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37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52AD7-8ACD-9000-89F5-C0E8B4D0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D33CE7-B3FD-F65F-0027-FD657107C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14963A-E4A3-32ED-F6CD-86B463D70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3C9D65-5A02-90B9-B9AF-CEDEA10B5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D4A059-E402-857B-812A-9E8A7B042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B320850-D509-71EA-9BEC-64FC1205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AFED48-2FF5-DC50-EDFF-425DFCA0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18CBBC-7868-37BB-881B-1DDBF3A8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15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24285-CB73-F632-7BD4-CF50E182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86B7EF-0B7D-4C53-37BF-F02DE00C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CC8562-0914-2A71-ADD0-6C40A14C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A3C8E6-AE56-FDFC-E1F4-DC9706D6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04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800195-BE2B-C55D-CD2F-4C0996D7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596033-0776-7C7A-8046-8F10EF30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6EBB0-6A88-5C2A-EAD1-D6DB66FE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9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67463-1CDC-01CC-6AEE-82DA9874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56C01F-80B7-A572-CEAC-D89F267F7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E133D0-909B-2D81-7BA3-82B98E1A5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186DB1-D48B-6532-45FB-D2768CBA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7668D6-B090-89FE-6F0D-479ACE9B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E63C4D-51C0-3EE3-4D00-054CCE38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6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F1A49-401A-B70A-D178-CC8B8C7A5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D27082-B8DA-D1AD-D16B-5E65BBE73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9A2922-46E4-91A1-8309-9DB5BE4A9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B6554-22F6-0DB8-700E-9017C194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D8E549-23D8-DBF7-17C8-B2CA0EF16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8B1BAA-406B-5E60-A76B-021C0D49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871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17405-EF5B-0009-75C3-A425AFA91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467FE0-7390-5506-8779-99AAF3EA3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BB531D-3825-1F6E-4A3F-88A0F378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884272-84FE-5E85-F179-60E30BD5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195289-6018-3DED-1DE2-51705CAB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46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723806-5E47-9947-CE17-810F0D1FF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9BDE00-E4BF-61E3-4FB0-6D697996E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59453E-D328-79B6-57D2-4957F159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347783-5AF8-7651-FF8E-965981B6A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9B5BE-30F0-B243-9F83-532436F3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508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8" y="6334316"/>
            <a:ext cx="12188825" cy="640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2" y="6459791"/>
            <a:ext cx="2472271" cy="365125"/>
          </a:xfrm>
          <a:prstGeom prst="rect">
            <a:avLst/>
          </a:prstGeom>
        </p:spPr>
        <p:txBody>
          <a:bodyPr/>
          <a:lstStyle/>
          <a:p>
            <a:fld id="{C97672FE-AB7E-4A07-B9ED-2112A2BAC25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91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61" y="6459791"/>
            <a:ext cx="1312025" cy="365125"/>
          </a:xfrm>
          <a:prstGeom prst="rect">
            <a:avLst/>
          </a:prstGeom>
        </p:spPr>
        <p:txBody>
          <a:bodyPr/>
          <a:lstStyle/>
          <a:p>
            <a:fld id="{6D45B534-0D41-409D-BD0A-1CC655B95C1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3C5CD52-A837-4199-C54E-88F4500E9B8B}"/>
              </a:ext>
            </a:extLst>
          </p:cNvPr>
          <p:cNvCxnSpPr/>
          <p:nvPr userDrawn="1"/>
        </p:nvCxnSpPr>
        <p:spPr>
          <a:xfrm>
            <a:off x="514351" y="571500"/>
            <a:ext cx="11417300" cy="0"/>
          </a:xfrm>
          <a:prstGeom prst="line">
            <a:avLst/>
          </a:prstGeom>
          <a:ln w="41275" cmpd="dbl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28B9436A-4455-FCBB-EA9D-A996D1B8BC2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7" t="40484" r="20565" b="41069"/>
          <a:stretch/>
        </p:blipFill>
        <p:spPr bwMode="auto">
          <a:xfrm>
            <a:off x="10774170" y="128680"/>
            <a:ext cx="1083063" cy="341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167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0188EC-65CB-433E-6E0A-0C97F8D4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BE8A0-84BC-04DB-582A-F2695AC99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5FAFEB-7D11-7EC0-AAD0-A936E549C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588B9-8EAE-4950-8868-7EE68C7C935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AEF10-D387-286F-95FC-6784B8908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C19B8C-4A7D-F5ED-AB67-2C5C1E238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736A5-B869-43DD-9BE6-4BE325A30FE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43E815A-0E8A-EDA9-1B5D-E8E5AB6F3743}"/>
              </a:ext>
            </a:extLst>
          </p:cNvPr>
          <p:cNvCxnSpPr/>
          <p:nvPr userDrawn="1"/>
        </p:nvCxnSpPr>
        <p:spPr>
          <a:xfrm>
            <a:off x="129310" y="859416"/>
            <a:ext cx="119333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403A822B-6FFD-F556-C938-A764952A1B8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8005" y="11545"/>
            <a:ext cx="1514687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7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b="1" dirty="0"/>
              <a:t>▶ 주간 업무 보고</a:t>
            </a:r>
            <a:endParaRPr lang="en-US" altLang="ko-KR" sz="14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6B0F5A-46FC-F06F-A4F7-B0949F8E7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67621"/>
              </p:ext>
            </p:extLst>
          </p:nvPr>
        </p:nvGraphicFramePr>
        <p:xfrm>
          <a:off x="751441" y="978233"/>
          <a:ext cx="11088000" cy="436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690341315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15409168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6050045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66607021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62458465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85984891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24636057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58525952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1219665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31076452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계획일정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실행일정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324429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650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전시회 비용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수출바우처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사후정산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일산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킨텍스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만원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이지훈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증빙 자료 취합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송금증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코트라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수출바우처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사이트 신청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40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충북지방청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R&amp;D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이지훈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사업화 목표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전략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기대효과 작성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006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농식품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분야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제품 상용화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이지훈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사업계획서 작성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18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진동기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소송건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감정사 방문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이지훈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감정일 확정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16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13:00</a:t>
                      </a:r>
                    </a:p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하자 수리 방법 및 비용 감정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아인스원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수리업체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 요청 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081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전시회 결과보고서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이지훈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전시회 참가 결과 보고서 작성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코엑스 방문객 리스트 수요일 접수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731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SL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안산 테스트플랜 검토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이지훈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OV1, CV PE, KA4 PE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차종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-. SL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안산 정지훈 책임 요청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663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 양산 계획 수립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이지훈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4/30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 라인 구성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58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코트라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수출바우처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현장 점검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이지훈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5/15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5/15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 품목 현장 점검 심사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013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10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b="1" dirty="0"/>
              <a:t>▶ 주간업무보고 요약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43160"/>
              </p:ext>
            </p:extLst>
          </p:nvPr>
        </p:nvGraphicFramePr>
        <p:xfrm>
          <a:off x="751441" y="978233"/>
          <a:ext cx="10850008" cy="436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6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8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95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주간 통계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95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수치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완료 태스크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견적 15건 + ATL-RAMS 2건 + 피지컬AI 2건 + 소부장 4건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완료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파일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FE/BE 전 프로젝트 코드 변경 파일 합산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 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133개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04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코드 증감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 프로젝트 순 코드라인 증감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+8,505줄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04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-1,646줄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04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순수 증감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+6,859줄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ATL AXIS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일정관리 · 프로젝트 · 견적 · 시험항목 · 자동화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태스크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ATL-RAMS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한글화 · 메모리 72% 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태스크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0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피지컬AI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Pydantic V2 전환 · 모델 통합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태스크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0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소부장 R&amp;D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참고자료·공고분석 · 기술규격·BOM · 제안서 · IRIS제출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태스크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4건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0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Hook / Entity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선택 · 런타임 매니저 · YOLO · 모델설정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컴포넌트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5개 / 4개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0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 마이그레이션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기본시료개수 · 조항번호 컬럼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마이그레이션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23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b="1"/>
              <a:t>▶ ATL AXIS — 일정 관리 모듈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513832"/>
              </p:ext>
            </p:extLst>
          </p:nvPr>
        </p:nvGraphicFramePr>
        <p:xfrm>
          <a:off x="751441" y="978233"/>
          <a:ext cx="10956348" cy="20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81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업무명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일정 레이아웃 정리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불필요 UI 요소 제거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등록 버튼 조건부 노출로 UX 간소화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관리 메인 탭 숨김 처리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3-탭 네비게이션 비활성화 · 단일 뷰 전환으로 사용성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 관점 → 팀원 관점 전환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재활성화 · 팀원 중심 뷰 전환 · 보드 그룹핑 프로젝트 기준 변경 (5개 파일)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86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b="1"/>
              <a:t>▶ ATL AXIS — 프로젝트 / 견적 모듈 (1)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499723"/>
              </p:ext>
            </p:extLst>
          </p:nvPr>
        </p:nvGraphicFramePr>
        <p:xfrm>
          <a:off x="751441" y="978233"/>
          <a:ext cx="10846670" cy="24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3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1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업무명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 목록 권한별 필터링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등록 UI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역할 기반 접근제어 적용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다중 멤버 선택 컴포넌트 신규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 수정 오류 수정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(DateInput + 담당자)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날짜 포맷 정규화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콤보박스 렌더링 오류 해결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견적 생성 납기예정일 캘린더 기능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캘린더 팝업 신규 구현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양방향 동기화 · 과거일 비활성화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견적 빌더 시험항목명 Tooltip 추가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말줄임 항목명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텍스트 표시 (8곳 적용)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4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b="1"/>
              <a:t>▶ ATL AXIS — 견적 모듈 (2)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27300"/>
              </p:ext>
            </p:extLst>
          </p:nvPr>
        </p:nvGraphicFramePr>
        <p:xfrm>
          <a:off x="751441" y="978233"/>
          <a:ext cx="11132934" cy="412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3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81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13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업무명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견적 리스트 삭제 기능 UI 연결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DRAFT/CANCELLED 상태 삭제 허용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 API 재활용으로 빠른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견적 수정하기 풀스택 구현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페이지 신규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Leg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전체 교체 전략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낙관적 잠금 충돌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견적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빌더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시료개수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미반영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버그 수정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하드코딩 값 제거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 시료개수 자동 반영 로직 정상화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견적 DTO 빌드 오류 수정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DTO 의존성 누락 해결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빌드 정상화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금주 WBS 계획 (견적 모듈 베타테스트/배포)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6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P1~2. 테스트 준비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API/UI/통합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23.5h (2일) · 산출물: 테스트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7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P3~5. 버그 수정 + 배포 준비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검증/완료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10.5h (2일) · 버그 8h + 배포/검증 4h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R1: Critical 버그 시 일정 지연(높음) · R2: DB 마이그레이션 실패(중간) · R3: Docker 오류(낮음)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15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b="1"/>
              <a:t>▶ ATL AXIS — 시험항목 모듈 / 개발 자동화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831232"/>
              </p:ext>
            </p:extLst>
          </p:nvPr>
        </p:nvGraphicFramePr>
        <p:xfrm>
          <a:off x="751442" y="978233"/>
          <a:ext cx="11200412" cy="28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7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7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51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62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75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업무명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시험항목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기본시료개수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풀스택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 컬럼 추가 · 견적 비례계산 연동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QA 검증 전항목 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3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시험항목 규격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조항번호 풀스택 구현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 컬럼 추가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다이얼로그 3열 확장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 컬럼 신규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일일업무보고 자동 기록 훅 개선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 보고서 덮어쓰기 방지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append 방식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주간업무보고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자동 생성 에이전트 구축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일일보고 자동 분석→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주간보고 생성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프로젝트별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그룹핑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 병합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178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b="1" dirty="0"/>
              <a:t>▶ ATL-RAMS / 피지컬</a:t>
            </a:r>
            <a:r>
              <a:rPr lang="en-US" altLang="ko-KR" sz="1400" b="1" dirty="0"/>
              <a:t>AI</a:t>
            </a:r>
            <a:endParaRPr lang="ko-KR" altLang="en-US" sz="14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20546"/>
              </p:ext>
            </p:extLst>
          </p:nvPr>
        </p:nvGraphicFramePr>
        <p:xfrm>
          <a:off x="704849" y="978233"/>
          <a:ext cx="11134594" cy="4611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9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5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306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0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업무명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ATL-RAMS 버튼 한글화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전역 영문 라벨 4개 파일 일괄 한글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ATL-RAMS 메모리 최적화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싱글턴+WeakRef 적용 · 메모리 72% 절감 (1.2GB→340MB)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피지컬AI Pydantic 2 마이그레이션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36개 모델 V1→V2 전환 · Field/validator 표준화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3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피지컬AI 모델 통합 관리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YOLO+SAM 통합 클래스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 모델 60초 후 GPU 자동 해제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10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향후 WBS 계획 (ATL-RAMS SOP 배포, 목표: 05/22)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P1~P3.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기능완료→통합시험→코드프리즈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04/13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05/03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sz="120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85%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W1 잔여기능+단위테스트 → W2 HW통합+시리얼검증 → W3 코드프리즈+회귀테스트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6주 중 W1~3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P4~P6.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배포패키징→최종검증→SOP릴리즈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05/04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05/22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W4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MSI빌드+릴리즈노트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→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W5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고객환경검증+문서화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→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W6 SOP승인+운영배포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6주 중 W4~6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645">
                <a:tc>
                  <a:txBody>
                    <a:bodyPr/>
                    <a:lstStyle/>
                    <a:p>
                      <a:pPr algn="ctr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리스크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시리얼 통신 불안정(높음)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MSI 호환성(중간)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대량 데이터 성능(중간)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64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b="1" dirty="0"/>
              <a:t>▶ 소부장 R&amp;D 사업계획서 제출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821048"/>
              </p:ext>
            </p:extLst>
          </p:nvPr>
        </p:nvGraphicFramePr>
        <p:xfrm>
          <a:off x="704849" y="978233"/>
          <a:ext cx="11134594" cy="4519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9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5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306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0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4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업무명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실행일정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참고자료 수집·공고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 공고문·기술규격·사전조사 자료 확보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기술규격·소요량/BOM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기술규격 90% · BOM 85% · 원가산출 75%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기술·가격 제안서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기술제안서 60% · 가격제안서 50% · 첨부서류 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 검토·결재·IRIS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 검토 20% · IRIS 제출 0% (마감: 4/15 18:00)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10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차주 제출 계획 (소부장 R&amp;D 사업계획서, 마감: 4/15 18:00)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1358">
                <a:tc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4/14.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제안서 최종 작성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첨부서류 완성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04/14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04/14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4/14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50%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기술제안서 마무리 →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가격제안서 확정 →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첨부서류 준비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D-1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33">
                <a:tc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4/15.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내부검토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IRIS 최종제출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백현규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04/15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04/15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AM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내부검토+수정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→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컨펌+IRIS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업로드 (18:00 마감)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D-Day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리스크</a:t>
                      </a: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/>
                    </a:p>
                  </a:txBody>
                  <a:tcPr marL="45720" marR="45720" marT="27432" marB="27432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sz="1200" dirty="0"/>
                    </a:p>
                  </a:txBody>
                  <a:tcPr marL="45720" marR="45720" marT="27432" marB="27432"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791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R&amp;D 사업계획서 WBS 전체 현황 오버뷰</a:t>
            </a:r>
          </a:p>
        </p:txBody>
      </p:sp>
      <p:sp>
        <p:nvSpPr>
          <p:cNvPr id="20" name="O20"/>
          <p:cNvSpPr/>
          <p:nvPr/>
        </p:nvSpPr>
        <p:spPr>
          <a:xfrm>
            <a:off x="751441" y="980000"/>
            <a:ext cx="10800000" cy="40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소부장 R&amp;D 사업계획서 제출 WBS (마감: 2026-04-15 18:00)</a:t>
            </a:r>
          </a:p>
        </p:txBody>
      </p:sp>
      <p:sp>
        <p:nvSpPr>
          <p:cNvPr id="21" name="O21"/>
          <p:cNvSpPr/>
          <p:nvPr/>
        </p:nvSpPr>
        <p:spPr>
          <a:xfrm>
            <a:off x="751441" y="1470000"/>
            <a:ext cx="5250000" cy="34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문서 준비 진도</a:t>
            </a:r>
          </a:p>
        </p:txBody>
      </p:sp>
      <p:sp>
        <p:nvSpPr>
          <p:cNvPr id="22" name="O22"/>
          <p:cNvSpPr/>
          <p:nvPr/>
        </p:nvSpPr>
        <p:spPr>
          <a:xfrm>
            <a:off x="6301441" y="1470000"/>
            <a:ext cx="5250000" cy="34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실행 과제 진도</a:t>
            </a:r>
          </a:p>
        </p:txBody>
      </p:sp>
      <p:sp>
        <p:nvSpPr>
          <p:cNvPr id="23" name="O23"/>
          <p:cNvSpPr/>
          <p:nvPr/>
        </p:nvSpPr>
        <p:spPr>
          <a:xfrm>
            <a:off x="751441" y="1900000"/>
            <a:ext cx="1500000" cy="28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참고자료 수집</a:t>
            </a:r>
          </a:p>
        </p:txBody>
      </p:sp>
      <p:sp>
        <p:nvSpPr>
          <p:cNvPr id="24" name="O24"/>
          <p:cNvSpPr/>
          <p:nvPr/>
        </p:nvSpPr>
        <p:spPr>
          <a:xfrm>
            <a:off x="2331441" y="1900000"/>
            <a:ext cx="3000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25" name="O25"/>
          <p:cNvSpPr/>
          <p:nvPr/>
        </p:nvSpPr>
        <p:spPr>
          <a:xfrm>
            <a:off x="2331441" y="1900000"/>
            <a:ext cx="29972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26" name="O26"/>
          <p:cNvSpPr/>
          <p:nvPr/>
        </p:nvSpPr>
        <p:spPr>
          <a:xfrm>
            <a:off x="5431441" y="1900000"/>
            <a:ext cx="5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100%</a:t>
            </a:r>
          </a:p>
        </p:txBody>
      </p:sp>
      <p:sp>
        <p:nvSpPr>
          <p:cNvPr id="27" name="O27"/>
          <p:cNvSpPr/>
          <p:nvPr/>
        </p:nvSpPr>
        <p:spPr>
          <a:xfrm>
            <a:off x="751441" y="2240000"/>
            <a:ext cx="1500000" cy="28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공고 분석</a:t>
            </a:r>
          </a:p>
        </p:txBody>
      </p:sp>
      <p:sp>
        <p:nvSpPr>
          <p:cNvPr id="28" name="O28"/>
          <p:cNvSpPr/>
          <p:nvPr/>
        </p:nvSpPr>
        <p:spPr>
          <a:xfrm>
            <a:off x="2331441" y="2240000"/>
            <a:ext cx="3000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29" name="O29"/>
          <p:cNvSpPr/>
          <p:nvPr/>
        </p:nvSpPr>
        <p:spPr>
          <a:xfrm>
            <a:off x="2331441" y="2240000"/>
            <a:ext cx="29972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30" name="O30"/>
          <p:cNvSpPr/>
          <p:nvPr/>
        </p:nvSpPr>
        <p:spPr>
          <a:xfrm>
            <a:off x="5431441" y="2240000"/>
            <a:ext cx="5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100%</a:t>
            </a:r>
          </a:p>
        </p:txBody>
      </p:sp>
      <p:sp>
        <p:nvSpPr>
          <p:cNvPr id="31" name="O31"/>
          <p:cNvSpPr/>
          <p:nvPr/>
        </p:nvSpPr>
        <p:spPr>
          <a:xfrm>
            <a:off x="751441" y="2580000"/>
            <a:ext cx="1500000" cy="28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SW원가 분석</a:t>
            </a:r>
          </a:p>
        </p:txBody>
      </p:sp>
      <p:sp>
        <p:nvSpPr>
          <p:cNvPr id="32" name="O32"/>
          <p:cNvSpPr/>
          <p:nvPr/>
        </p:nvSpPr>
        <p:spPr>
          <a:xfrm>
            <a:off x="2331441" y="2580000"/>
            <a:ext cx="3000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33" name="O33"/>
          <p:cNvSpPr/>
          <p:nvPr/>
        </p:nvSpPr>
        <p:spPr>
          <a:xfrm>
            <a:off x="2331441" y="2580000"/>
            <a:ext cx="29972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34" name="O34"/>
          <p:cNvSpPr/>
          <p:nvPr/>
        </p:nvSpPr>
        <p:spPr>
          <a:xfrm>
            <a:off x="5431441" y="2580000"/>
            <a:ext cx="5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100%</a:t>
            </a:r>
          </a:p>
        </p:txBody>
      </p:sp>
      <p:sp>
        <p:nvSpPr>
          <p:cNvPr id="35" name="O35"/>
          <p:cNvSpPr/>
          <p:nvPr/>
        </p:nvSpPr>
        <p:spPr>
          <a:xfrm>
            <a:off x="751441" y="2920000"/>
            <a:ext cx="1500000" cy="28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사업필요성</a:t>
            </a:r>
          </a:p>
        </p:txBody>
      </p:sp>
      <p:sp>
        <p:nvSpPr>
          <p:cNvPr id="36" name="O36"/>
          <p:cNvSpPr/>
          <p:nvPr/>
        </p:nvSpPr>
        <p:spPr>
          <a:xfrm>
            <a:off x="2331441" y="2920000"/>
            <a:ext cx="3000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37" name="O37"/>
          <p:cNvSpPr/>
          <p:nvPr/>
        </p:nvSpPr>
        <p:spPr>
          <a:xfrm>
            <a:off x="2331441" y="2920000"/>
            <a:ext cx="269748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38" name="O38"/>
          <p:cNvSpPr/>
          <p:nvPr/>
        </p:nvSpPr>
        <p:spPr>
          <a:xfrm>
            <a:off x="5431441" y="2920000"/>
            <a:ext cx="5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90%</a:t>
            </a:r>
          </a:p>
        </p:txBody>
      </p:sp>
      <p:sp>
        <p:nvSpPr>
          <p:cNvPr id="39" name="O39"/>
          <p:cNvSpPr/>
          <p:nvPr/>
        </p:nvSpPr>
        <p:spPr>
          <a:xfrm>
            <a:off x="6301441" y="1900000"/>
            <a:ext cx="1500000" cy="28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사업목표</a:t>
            </a:r>
          </a:p>
        </p:txBody>
      </p:sp>
      <p:sp>
        <p:nvSpPr>
          <p:cNvPr id="40" name="O40"/>
          <p:cNvSpPr/>
          <p:nvPr/>
        </p:nvSpPr>
        <p:spPr>
          <a:xfrm>
            <a:off x="7881441" y="1900000"/>
            <a:ext cx="3000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41" name="O41"/>
          <p:cNvSpPr/>
          <p:nvPr/>
        </p:nvSpPr>
        <p:spPr>
          <a:xfrm>
            <a:off x="7881441" y="1900000"/>
            <a:ext cx="239776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42" name="O42"/>
          <p:cNvSpPr/>
          <p:nvPr/>
        </p:nvSpPr>
        <p:spPr>
          <a:xfrm>
            <a:off x="10981441" y="1900000"/>
            <a:ext cx="5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80%</a:t>
            </a:r>
          </a:p>
        </p:txBody>
      </p:sp>
      <p:sp>
        <p:nvSpPr>
          <p:cNvPr id="43" name="O43"/>
          <p:cNvSpPr/>
          <p:nvPr/>
        </p:nvSpPr>
        <p:spPr>
          <a:xfrm>
            <a:off x="6301441" y="2240000"/>
            <a:ext cx="1500000" cy="28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선행연구이력</a:t>
            </a:r>
          </a:p>
        </p:txBody>
      </p:sp>
      <p:sp>
        <p:nvSpPr>
          <p:cNvPr id="44" name="O44"/>
          <p:cNvSpPr/>
          <p:nvPr/>
        </p:nvSpPr>
        <p:spPr>
          <a:xfrm>
            <a:off x="7881441" y="2240000"/>
            <a:ext cx="3000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45" name="O45"/>
          <p:cNvSpPr/>
          <p:nvPr/>
        </p:nvSpPr>
        <p:spPr>
          <a:xfrm>
            <a:off x="7881441" y="2240000"/>
            <a:ext cx="269748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46" name="O46"/>
          <p:cNvSpPr/>
          <p:nvPr/>
        </p:nvSpPr>
        <p:spPr>
          <a:xfrm>
            <a:off x="10981441" y="2240000"/>
            <a:ext cx="5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90%</a:t>
            </a:r>
          </a:p>
        </p:txBody>
      </p:sp>
      <p:sp>
        <p:nvSpPr>
          <p:cNvPr id="47" name="O47"/>
          <p:cNvSpPr/>
          <p:nvPr/>
        </p:nvSpPr>
        <p:spPr>
          <a:xfrm>
            <a:off x="6301441" y="2580000"/>
            <a:ext cx="1500000" cy="28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기술개발목표</a:t>
            </a:r>
          </a:p>
        </p:txBody>
      </p:sp>
      <p:sp>
        <p:nvSpPr>
          <p:cNvPr id="48" name="O48"/>
          <p:cNvSpPr/>
          <p:nvPr/>
        </p:nvSpPr>
        <p:spPr>
          <a:xfrm>
            <a:off x="7881441" y="2580000"/>
            <a:ext cx="3000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49" name="O49"/>
          <p:cNvSpPr/>
          <p:nvPr/>
        </p:nvSpPr>
        <p:spPr>
          <a:xfrm>
            <a:off x="7881441" y="2580000"/>
            <a:ext cx="179832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50" name="O50"/>
          <p:cNvSpPr/>
          <p:nvPr/>
        </p:nvSpPr>
        <p:spPr>
          <a:xfrm>
            <a:off x="10981441" y="2580000"/>
            <a:ext cx="5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60%</a:t>
            </a:r>
          </a:p>
        </p:txBody>
      </p:sp>
      <p:sp>
        <p:nvSpPr>
          <p:cNvPr id="51" name="O51"/>
          <p:cNvSpPr/>
          <p:nvPr/>
        </p:nvSpPr>
        <p:spPr>
          <a:xfrm>
            <a:off x="6301441" y="2920000"/>
            <a:ext cx="1500000" cy="28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HWP 본문1</a:t>
            </a:r>
          </a:p>
        </p:txBody>
      </p:sp>
      <p:sp>
        <p:nvSpPr>
          <p:cNvPr id="52" name="O52"/>
          <p:cNvSpPr/>
          <p:nvPr/>
        </p:nvSpPr>
        <p:spPr>
          <a:xfrm>
            <a:off x="7881441" y="2920000"/>
            <a:ext cx="3000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53" name="O53"/>
          <p:cNvSpPr/>
          <p:nvPr/>
        </p:nvSpPr>
        <p:spPr>
          <a:xfrm flipH="1">
            <a:off x="7894140" y="2920000"/>
            <a:ext cx="754559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54" name="O54"/>
          <p:cNvSpPr/>
          <p:nvPr/>
        </p:nvSpPr>
        <p:spPr>
          <a:xfrm>
            <a:off x="10981441" y="2920000"/>
            <a:ext cx="5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en-US" altLang="ko-KR" sz="1100" b="1" dirty="0">
                <a:solidFill>
                  <a:srgbClr val="333333"/>
                </a:solidFill>
                <a:latin typeface="+mn-ea"/>
              </a:rPr>
              <a:t>25</a:t>
            </a:r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%</a:t>
            </a:r>
          </a:p>
        </p:txBody>
      </p:sp>
      <p:sp>
        <p:nvSpPr>
          <p:cNvPr id="55" name="O55"/>
          <p:cNvSpPr/>
          <p:nvPr/>
        </p:nvSpPr>
        <p:spPr>
          <a:xfrm>
            <a:off x="751441" y="3360000"/>
            <a:ext cx="5250000" cy="4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56" name="O56"/>
          <p:cNvSpPr/>
          <p:nvPr/>
        </p:nvSpPr>
        <p:spPr>
          <a:xfrm>
            <a:off x="841441" y="3400000"/>
            <a:ext cx="5070000" cy="1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일정: 4/13 저녁 ~ 4/15 18:00 (2일)</a:t>
            </a:r>
          </a:p>
        </p:txBody>
      </p:sp>
      <p:sp>
        <p:nvSpPr>
          <p:cNvPr id="57" name="O57"/>
          <p:cNvSpPr/>
          <p:nvPr/>
        </p:nvSpPr>
        <p:spPr>
          <a:xfrm>
            <a:off x="841441" y="3580000"/>
            <a:ext cx="5070000" cy="1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Ph0 사전점검 1h → Ph1 IRIS+스펙 4h → Ph2 HWP 본문 8~10h</a:t>
            </a:r>
          </a:p>
        </p:txBody>
      </p:sp>
      <p:sp>
        <p:nvSpPr>
          <p:cNvPr id="58" name="O58"/>
          <p:cNvSpPr/>
          <p:nvPr/>
        </p:nvSpPr>
        <p:spPr>
          <a:xfrm>
            <a:off x="6301441" y="3360000"/>
            <a:ext cx="5250000" cy="4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59" name="O59"/>
          <p:cNvSpPr/>
          <p:nvPr/>
        </p:nvSpPr>
        <p:spPr>
          <a:xfrm>
            <a:off x="6391441" y="3400000"/>
            <a:ext cx="5070000" cy="1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100" b="1" dirty="0">
                <a:solidFill>
                  <a:srgbClr val="333333"/>
                </a:solidFill>
                <a:latin typeface="+mn-ea"/>
                <a:ea typeface="+mn-ea"/>
              </a:rPr>
              <a:t>공수: 총 21~23h (Phase 0~4)</a:t>
            </a:r>
          </a:p>
        </p:txBody>
      </p:sp>
      <p:sp>
        <p:nvSpPr>
          <p:cNvPr id="60" name="O60"/>
          <p:cNvSpPr/>
          <p:nvPr/>
        </p:nvSpPr>
        <p:spPr>
          <a:xfrm>
            <a:off x="6391441" y="3580000"/>
            <a:ext cx="5070000" cy="1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Ph3 첨부+IRIS입력 4h → Ph4 최종검수+제출 4h</a:t>
            </a:r>
          </a:p>
        </p:txBody>
      </p:sp>
      <p:sp>
        <p:nvSpPr>
          <p:cNvPr id="61" name="O61"/>
          <p:cNvSpPr/>
          <p:nvPr/>
        </p:nvSpPr>
        <p:spPr>
          <a:xfrm>
            <a:off x="751441" y="3920000"/>
            <a:ext cx="5250000" cy="3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62" name="O62"/>
          <p:cNvSpPr/>
          <p:nvPr/>
        </p:nvSpPr>
        <p:spPr>
          <a:xfrm>
            <a:off x="841441" y="3960000"/>
            <a:ext cx="5070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리스크: IRIS 미등록(치명) · 기술스펙 미확정(높음) · 본문 18p 초과(중간)</a:t>
            </a:r>
          </a:p>
        </p:txBody>
      </p:sp>
      <p:sp>
        <p:nvSpPr>
          <p:cNvPr id="63" name="O63"/>
          <p:cNvSpPr/>
          <p:nvPr/>
        </p:nvSpPr>
        <p:spPr>
          <a:xfrm>
            <a:off x="6301441" y="3920000"/>
            <a:ext cx="5250000" cy="34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64" name="O64"/>
          <p:cNvSpPr/>
          <p:nvPr/>
        </p:nvSpPr>
        <p:spPr>
          <a:xfrm>
            <a:off x="6391441" y="3960000"/>
            <a:ext cx="5070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리스크: IRIS 시스템 장애(높음) · HWP 호환(중간) · 야간 피로(중간)</a:t>
            </a:r>
          </a:p>
        </p:txBody>
      </p:sp>
      <p:sp>
        <p:nvSpPr>
          <p:cNvPr id="65" name="O65"/>
          <p:cNvSpPr/>
          <p:nvPr/>
        </p:nvSpPr>
        <p:spPr>
          <a:xfrm>
            <a:off x="751441" y="4400000"/>
            <a:ext cx="10800000" cy="580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endParaRPr/>
          </a:p>
        </p:txBody>
      </p:sp>
      <p:sp>
        <p:nvSpPr>
          <p:cNvPr id="66" name="O66"/>
          <p:cNvSpPr/>
          <p:nvPr/>
        </p:nvSpPr>
        <p:spPr>
          <a:xfrm>
            <a:off x="871441" y="4415250"/>
            <a:ext cx="10560000" cy="245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핵심 마일스톤</a:t>
            </a:r>
          </a:p>
        </p:txBody>
      </p:sp>
      <p:sp>
        <p:nvSpPr>
          <p:cNvPr id="67" name="O67"/>
          <p:cNvSpPr/>
          <p:nvPr/>
        </p:nvSpPr>
        <p:spPr>
          <a:xfrm>
            <a:off x="871441" y="4685250"/>
            <a:ext cx="2062000" cy="24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000" dirty="0">
                <a:solidFill>
                  <a:srgbClr val="FFFFFF"/>
                </a:solidFill>
                <a:latin typeface="+mn-ea"/>
                <a:ea typeface="+mn-ea"/>
              </a:rPr>
              <a:t>4/13 23:00 Ph0 완료</a:t>
            </a:r>
          </a:p>
        </p:txBody>
      </p:sp>
      <p:sp>
        <p:nvSpPr>
          <p:cNvPr id="68" name="O68"/>
          <p:cNvSpPr/>
          <p:nvPr/>
        </p:nvSpPr>
        <p:spPr>
          <a:xfrm>
            <a:off x="2983441" y="4685250"/>
            <a:ext cx="2062000" cy="24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000" dirty="0">
                <a:solidFill>
                  <a:srgbClr val="FFFFFF"/>
                </a:solidFill>
                <a:latin typeface="+mn-ea"/>
                <a:ea typeface="+mn-ea"/>
              </a:rPr>
              <a:t>4/14 13:00 Ph1 완료</a:t>
            </a:r>
          </a:p>
        </p:txBody>
      </p:sp>
      <p:sp>
        <p:nvSpPr>
          <p:cNvPr id="69" name="O69"/>
          <p:cNvSpPr/>
          <p:nvPr/>
        </p:nvSpPr>
        <p:spPr>
          <a:xfrm>
            <a:off x="5095441" y="4685250"/>
            <a:ext cx="2062000" cy="24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000" dirty="0">
                <a:solidFill>
                  <a:srgbClr val="FFFFFF"/>
                </a:solidFill>
                <a:latin typeface="+mn-ea"/>
                <a:ea typeface="+mn-ea"/>
              </a:rPr>
              <a:t>4/14 18:00 Ph2-1 완료</a:t>
            </a:r>
          </a:p>
        </p:txBody>
      </p:sp>
      <p:sp>
        <p:nvSpPr>
          <p:cNvPr id="70" name="O70"/>
          <p:cNvSpPr/>
          <p:nvPr/>
        </p:nvSpPr>
        <p:spPr>
          <a:xfrm>
            <a:off x="7207441" y="4685250"/>
            <a:ext cx="2062000" cy="24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000" dirty="0">
                <a:solidFill>
                  <a:srgbClr val="FFFFFF"/>
                </a:solidFill>
                <a:latin typeface="+mn-ea"/>
                <a:ea typeface="+mn-ea"/>
              </a:rPr>
              <a:t>4/15 13:00 Ph3 완료</a:t>
            </a:r>
          </a:p>
        </p:txBody>
      </p:sp>
      <p:sp>
        <p:nvSpPr>
          <p:cNvPr id="71" name="O71"/>
          <p:cNvSpPr/>
          <p:nvPr/>
        </p:nvSpPr>
        <p:spPr>
          <a:xfrm>
            <a:off x="9319441" y="4685250"/>
            <a:ext cx="2062000" cy="24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18288" rIns="45720" bIns="18288" anchor="ctr"/>
          <a:lstStyle/>
          <a:p>
            <a:pPr algn="ctr"/>
            <a:r>
              <a:rPr lang="ko-KR" altLang="en-US" sz="1000" dirty="0">
                <a:solidFill>
                  <a:srgbClr val="FFFFFF"/>
                </a:solidFill>
                <a:latin typeface="+mn-ea"/>
                <a:ea typeface="+mn-ea"/>
              </a:rPr>
              <a:t>4/15 16:00 제출</a:t>
            </a:r>
          </a:p>
        </p:txBody>
      </p:sp>
      <p:sp>
        <p:nvSpPr>
          <p:cNvPr id="72" name="D72"/>
          <p:cNvSpPr/>
          <p:nvPr/>
        </p:nvSpPr>
        <p:spPr>
          <a:xfrm>
            <a:off x="751441" y="5050000"/>
            <a:ext cx="11088000" cy="300000"/>
          </a:xfrm>
          <a:prstGeom prst="roundRect">
            <a:avLst>
              <a:gd name="adj" fmla="val 8000"/>
            </a:avLst>
          </a:prstGeom>
          <a:solidFill>
            <a:srgbClr val="2B579A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WBS 총괄 타임라인 (마감: 4/15 18:00)</a:t>
            </a:r>
          </a:p>
        </p:txBody>
      </p:sp>
      <p:sp>
        <p:nvSpPr>
          <p:cNvPr id="73" name="D73"/>
          <p:cNvSpPr/>
          <p:nvPr/>
        </p:nvSpPr>
        <p:spPr>
          <a:xfrm>
            <a:off x="751441" y="5410000"/>
            <a:ext cx="2217600" cy="3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333333"/>
                </a:solidFill>
                <a:latin typeface="+mn-ea"/>
                <a:ea typeface="+mn-ea"/>
              </a:rPr>
              <a:t>Phase 0 사전점검</a:t>
            </a:r>
          </a:p>
        </p:txBody>
      </p:sp>
      <p:sp>
        <p:nvSpPr>
          <p:cNvPr id="74" name="D74"/>
          <p:cNvSpPr/>
          <p:nvPr/>
        </p:nvSpPr>
        <p:spPr>
          <a:xfrm>
            <a:off x="2969041" y="5410000"/>
            <a:ext cx="2217600" cy="3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333333"/>
                </a:solidFill>
                <a:latin typeface="+mn-ea"/>
                <a:ea typeface="+mn-ea"/>
              </a:rPr>
              <a:t>Phase 1 IRIS+스펙</a:t>
            </a:r>
          </a:p>
        </p:txBody>
      </p:sp>
      <p:sp>
        <p:nvSpPr>
          <p:cNvPr id="75" name="D75"/>
          <p:cNvSpPr/>
          <p:nvPr/>
        </p:nvSpPr>
        <p:spPr>
          <a:xfrm>
            <a:off x="5186641" y="5410000"/>
            <a:ext cx="2217600" cy="3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333333"/>
                </a:solidFill>
                <a:latin typeface="+mn-ea"/>
                <a:ea typeface="+mn-ea"/>
              </a:rPr>
              <a:t>Phase 2 HWP 작성</a:t>
            </a:r>
          </a:p>
        </p:txBody>
      </p:sp>
      <p:sp>
        <p:nvSpPr>
          <p:cNvPr id="76" name="D76"/>
          <p:cNvSpPr/>
          <p:nvPr/>
        </p:nvSpPr>
        <p:spPr>
          <a:xfrm>
            <a:off x="7404241" y="5410000"/>
            <a:ext cx="2217600" cy="3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333333"/>
                </a:solidFill>
                <a:latin typeface="+mn-ea"/>
                <a:ea typeface="+mn-ea"/>
              </a:rPr>
              <a:t>Phase 3 첨부+IRIS</a:t>
            </a:r>
          </a:p>
        </p:txBody>
      </p:sp>
      <p:sp>
        <p:nvSpPr>
          <p:cNvPr id="77" name="D77"/>
          <p:cNvSpPr/>
          <p:nvPr/>
        </p:nvSpPr>
        <p:spPr>
          <a:xfrm>
            <a:off x="9621841" y="5410000"/>
            <a:ext cx="2217600" cy="3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333333"/>
                </a:solidFill>
                <a:latin typeface="+mn-ea"/>
                <a:ea typeface="+mn-ea"/>
              </a:rPr>
              <a:t>Phase 4 검수+제출</a:t>
            </a:r>
          </a:p>
        </p:txBody>
      </p:sp>
      <p:sp>
        <p:nvSpPr>
          <p:cNvPr id="78" name="D78"/>
          <p:cNvSpPr/>
          <p:nvPr/>
        </p:nvSpPr>
        <p:spPr>
          <a:xfrm>
            <a:off x="751441" y="5810000"/>
            <a:ext cx="2732000" cy="26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2B579A"/>
                </a:solidFill>
                <a:latin typeface="+mn-ea"/>
                <a:ea typeface="+mn-ea"/>
              </a:rPr>
              <a:t>4/13 저녁 1h</a:t>
            </a:r>
          </a:p>
        </p:txBody>
      </p:sp>
      <p:sp>
        <p:nvSpPr>
          <p:cNvPr id="79" name="D79"/>
          <p:cNvSpPr/>
          <p:nvPr/>
        </p:nvSpPr>
        <p:spPr>
          <a:xfrm>
            <a:off x="3523441" y="5810000"/>
            <a:ext cx="2732000" cy="26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2B579A"/>
                </a:solidFill>
                <a:latin typeface="+mn-ea"/>
                <a:ea typeface="+mn-ea"/>
              </a:rPr>
              <a:t>4/14 AM 4h</a:t>
            </a:r>
          </a:p>
        </p:txBody>
      </p:sp>
      <p:sp>
        <p:nvSpPr>
          <p:cNvPr id="80" name="D80"/>
          <p:cNvSpPr/>
          <p:nvPr/>
        </p:nvSpPr>
        <p:spPr>
          <a:xfrm>
            <a:off x="6295441" y="5810000"/>
            <a:ext cx="2732000" cy="26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2B579A"/>
                </a:solidFill>
                <a:latin typeface="+mn-ea"/>
                <a:ea typeface="+mn-ea"/>
              </a:rPr>
              <a:t>4/14 PM~야간 8~10h</a:t>
            </a:r>
          </a:p>
        </p:txBody>
      </p:sp>
      <p:sp>
        <p:nvSpPr>
          <p:cNvPr id="81" name="D81"/>
          <p:cNvSpPr/>
          <p:nvPr/>
        </p:nvSpPr>
        <p:spPr>
          <a:xfrm>
            <a:off x="9067441" y="5810000"/>
            <a:ext cx="2732000" cy="26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900" b="1" dirty="0">
                <a:solidFill>
                  <a:srgbClr val="2B579A"/>
                </a:solidFill>
                <a:latin typeface="+mn-ea"/>
                <a:ea typeface="+mn-ea"/>
              </a:rPr>
              <a:t>4/15 AM~PM 8h</a:t>
            </a:r>
          </a:p>
        </p:txBody>
      </p:sp>
    </p:spTree>
    <p:extLst>
      <p:ext uri="{BB962C8B-B14F-4D97-AF65-F5344CB8AC3E}">
        <p14:creationId xmlns:p14="http://schemas.microsoft.com/office/powerpoint/2010/main" val="60116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견적 모듈 베타테스트/유지보수/배포 WBS (4/14~4/17)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100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현황 요약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380000"/>
            <a:ext cx="15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백엔드</a:t>
            </a:r>
          </a:p>
        </p:txBody>
      </p:sp>
      <p:sp>
        <p:nvSpPr>
          <p:cNvPr id="22" name="D22"/>
          <p:cNvSpPr/>
          <p:nvPr/>
        </p:nvSpPr>
        <p:spPr>
          <a:xfrm>
            <a:off x="2351441" y="1380000"/>
            <a:ext cx="858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3" name="D23"/>
          <p:cNvSpPr/>
          <p:nvPr/>
        </p:nvSpPr>
        <p:spPr>
          <a:xfrm>
            <a:off x="2351441" y="1380000"/>
            <a:ext cx="815860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4" name="D24"/>
          <p:cNvSpPr/>
          <p:nvPr/>
        </p:nvSpPr>
        <p:spPr>
          <a:xfrm>
            <a:off x="11039441" y="13800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95%</a:t>
            </a:r>
          </a:p>
        </p:txBody>
      </p:sp>
      <p:sp>
        <p:nvSpPr>
          <p:cNvPr id="25" name="D25"/>
          <p:cNvSpPr/>
          <p:nvPr/>
        </p:nvSpPr>
        <p:spPr>
          <a:xfrm>
            <a:off x="751441" y="1660000"/>
            <a:ext cx="15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프론트엔드</a:t>
            </a:r>
          </a:p>
        </p:txBody>
      </p:sp>
      <p:sp>
        <p:nvSpPr>
          <p:cNvPr id="26" name="D26"/>
          <p:cNvSpPr/>
          <p:nvPr/>
        </p:nvSpPr>
        <p:spPr>
          <a:xfrm>
            <a:off x="2351441" y="1660000"/>
            <a:ext cx="858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7" name="D27"/>
          <p:cNvSpPr/>
          <p:nvPr/>
        </p:nvSpPr>
        <p:spPr>
          <a:xfrm>
            <a:off x="2351441" y="1660000"/>
            <a:ext cx="815860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8" name="D28"/>
          <p:cNvSpPr/>
          <p:nvPr/>
        </p:nvSpPr>
        <p:spPr>
          <a:xfrm>
            <a:off x="11039441" y="16600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95%</a:t>
            </a:r>
          </a:p>
        </p:txBody>
      </p:sp>
      <p:sp>
        <p:nvSpPr>
          <p:cNvPr id="29" name="D29"/>
          <p:cNvSpPr/>
          <p:nvPr/>
        </p:nvSpPr>
        <p:spPr>
          <a:xfrm>
            <a:off x="751441" y="1940000"/>
            <a:ext cx="15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테스트</a:t>
            </a:r>
          </a:p>
        </p:txBody>
      </p:sp>
      <p:sp>
        <p:nvSpPr>
          <p:cNvPr id="30" name="D30"/>
          <p:cNvSpPr/>
          <p:nvPr/>
        </p:nvSpPr>
        <p:spPr>
          <a:xfrm>
            <a:off x="2351441" y="1940000"/>
            <a:ext cx="858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1" name="D31"/>
          <p:cNvSpPr/>
          <p:nvPr/>
        </p:nvSpPr>
        <p:spPr>
          <a:xfrm>
            <a:off x="2351441" y="1940000"/>
            <a:ext cx="85880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2" name="D32"/>
          <p:cNvSpPr/>
          <p:nvPr/>
        </p:nvSpPr>
        <p:spPr>
          <a:xfrm>
            <a:off x="11039441" y="19400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10%</a:t>
            </a:r>
          </a:p>
        </p:txBody>
      </p:sp>
      <p:sp>
        <p:nvSpPr>
          <p:cNvPr id="33" name="D33"/>
          <p:cNvSpPr/>
          <p:nvPr/>
        </p:nvSpPr>
        <p:spPr>
          <a:xfrm>
            <a:off x="751441" y="2220000"/>
            <a:ext cx="15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배포</a:t>
            </a:r>
          </a:p>
        </p:txBody>
      </p:sp>
      <p:sp>
        <p:nvSpPr>
          <p:cNvPr id="34" name="D34"/>
          <p:cNvSpPr/>
          <p:nvPr/>
        </p:nvSpPr>
        <p:spPr>
          <a:xfrm>
            <a:off x="2351441" y="2220000"/>
            <a:ext cx="858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5" name="D35"/>
          <p:cNvSpPr/>
          <p:nvPr/>
        </p:nvSpPr>
        <p:spPr>
          <a:xfrm>
            <a:off x="2351441" y="2220000"/>
            <a:ext cx="601160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6" name="D36"/>
          <p:cNvSpPr/>
          <p:nvPr/>
        </p:nvSpPr>
        <p:spPr>
          <a:xfrm>
            <a:off x="11039441" y="22200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70%</a:t>
            </a:r>
          </a:p>
        </p:txBody>
      </p:sp>
      <p:sp>
        <p:nvSpPr>
          <p:cNvPr id="37" name="D37"/>
          <p:cNvSpPr/>
          <p:nvPr/>
        </p:nvSpPr>
        <p:spPr>
          <a:xfrm>
            <a:off x="751441" y="270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일정 (4/14~4/17, 총 34h)</a:t>
            </a:r>
          </a:p>
        </p:txBody>
      </p:sp>
      <p:sp>
        <p:nvSpPr>
          <p:cNvPr id="38" name="D38"/>
          <p:cNvSpPr/>
          <p:nvPr/>
        </p:nvSpPr>
        <p:spPr>
          <a:xfrm>
            <a:off x="751441" y="3080000"/>
            <a:ext cx="2772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4/14 (월)</a:t>
            </a:r>
          </a:p>
        </p:txBody>
      </p:sp>
      <p:sp>
        <p:nvSpPr>
          <p:cNvPr id="39" name="D39"/>
          <p:cNvSpPr/>
          <p:nvPr/>
        </p:nvSpPr>
        <p:spPr>
          <a:xfrm>
            <a:off x="3523441" y="3080000"/>
            <a:ext cx="2772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4/15 (화)</a:t>
            </a:r>
          </a:p>
        </p:txBody>
      </p:sp>
      <p:sp>
        <p:nvSpPr>
          <p:cNvPr id="40" name="D40"/>
          <p:cNvSpPr/>
          <p:nvPr/>
        </p:nvSpPr>
        <p:spPr>
          <a:xfrm>
            <a:off x="6295441" y="3080000"/>
            <a:ext cx="2772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4/16 (수)</a:t>
            </a:r>
          </a:p>
        </p:txBody>
      </p:sp>
      <p:sp>
        <p:nvSpPr>
          <p:cNvPr id="41" name="D41"/>
          <p:cNvSpPr/>
          <p:nvPr/>
        </p:nvSpPr>
        <p:spPr>
          <a:xfrm>
            <a:off x="9067441" y="3080000"/>
            <a:ext cx="2772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4/17 (목)</a:t>
            </a:r>
          </a:p>
        </p:txBody>
      </p:sp>
      <p:sp>
        <p:nvSpPr>
          <p:cNvPr id="42" name="D42"/>
          <p:cNvSpPr/>
          <p:nvPr/>
        </p:nvSpPr>
        <p:spPr>
          <a:xfrm>
            <a:off x="751441" y="3380000"/>
            <a:ext cx="1386000" cy="21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+mn-ea"/>
                <a:ea typeface="+mn-ea"/>
              </a:rPr>
              <a:t>P1. 테스트 준비  4h</a:t>
            </a:r>
          </a:p>
        </p:txBody>
      </p:sp>
      <p:sp>
        <p:nvSpPr>
          <p:cNvPr id="43" name="D43"/>
          <p:cNvSpPr/>
          <p:nvPr/>
        </p:nvSpPr>
        <p:spPr>
          <a:xfrm>
            <a:off x="2137441" y="3630000"/>
            <a:ext cx="1386000" cy="21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+mn-ea"/>
                <a:ea typeface="+mn-ea"/>
              </a:rPr>
              <a:t>P2. API 테스트  7h</a:t>
            </a:r>
          </a:p>
        </p:txBody>
      </p:sp>
      <p:sp>
        <p:nvSpPr>
          <p:cNvPr id="44" name="D44"/>
          <p:cNvSpPr/>
          <p:nvPr/>
        </p:nvSpPr>
        <p:spPr>
          <a:xfrm>
            <a:off x="3523441" y="3880000"/>
            <a:ext cx="1386000" cy="21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+mn-ea"/>
                <a:ea typeface="+mn-ea"/>
              </a:rPr>
              <a:t>P2. UI 테스트  7.5h</a:t>
            </a:r>
          </a:p>
        </p:txBody>
      </p:sp>
      <p:sp>
        <p:nvSpPr>
          <p:cNvPr id="45" name="D45"/>
          <p:cNvSpPr/>
          <p:nvPr/>
        </p:nvSpPr>
        <p:spPr>
          <a:xfrm>
            <a:off x="4909441" y="4130000"/>
            <a:ext cx="1386000" cy="21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+mn-ea"/>
                <a:ea typeface="+mn-ea"/>
              </a:rPr>
              <a:t>P2. 통합/엣지  5h</a:t>
            </a:r>
          </a:p>
        </p:txBody>
      </p:sp>
      <p:sp>
        <p:nvSpPr>
          <p:cNvPr id="46" name="D46"/>
          <p:cNvSpPr/>
          <p:nvPr/>
        </p:nvSpPr>
        <p:spPr>
          <a:xfrm>
            <a:off x="6295441" y="4380000"/>
            <a:ext cx="2772000" cy="21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+mn-ea"/>
                <a:ea typeface="+mn-ea"/>
              </a:rPr>
              <a:t>P3. 버그 수정  8h</a:t>
            </a:r>
          </a:p>
        </p:txBody>
      </p:sp>
      <p:sp>
        <p:nvSpPr>
          <p:cNvPr id="47" name="D47"/>
          <p:cNvSpPr/>
          <p:nvPr/>
        </p:nvSpPr>
        <p:spPr>
          <a:xfrm>
            <a:off x="9067441" y="4630000"/>
            <a:ext cx="1386000" cy="21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+mn-ea"/>
                <a:ea typeface="+mn-ea"/>
              </a:rPr>
              <a:t>P4. 배포 준비  4h</a:t>
            </a:r>
          </a:p>
        </p:txBody>
      </p:sp>
      <p:sp>
        <p:nvSpPr>
          <p:cNvPr id="48" name="D48"/>
          <p:cNvSpPr/>
          <p:nvPr/>
        </p:nvSpPr>
        <p:spPr>
          <a:xfrm>
            <a:off x="10453441" y="4880000"/>
            <a:ext cx="1386000" cy="21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900" dirty="0">
                <a:solidFill>
                  <a:srgbClr val="FFFFFF"/>
                </a:solidFill>
                <a:latin typeface="+mn-ea"/>
                <a:ea typeface="+mn-ea"/>
              </a:rPr>
              <a:t>P5. 검증/완료  4h</a:t>
            </a:r>
          </a:p>
        </p:txBody>
      </p:sp>
      <p:sp>
        <p:nvSpPr>
          <p:cNvPr id="49" name="D49"/>
          <p:cNvSpPr/>
          <p:nvPr/>
        </p:nvSpPr>
        <p:spPr>
          <a:xfrm>
            <a:off x="751441" y="528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공수 배분 (총 34h)</a:t>
            </a:r>
          </a:p>
        </p:txBody>
      </p:sp>
      <p:sp>
        <p:nvSpPr>
          <p:cNvPr id="50" name="D50"/>
          <p:cNvSpPr/>
          <p:nvPr/>
        </p:nvSpPr>
        <p:spPr>
          <a:xfrm>
            <a:off x="751441" y="5660000"/>
            <a:ext cx="1317386" cy="26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P1 준비 4h</a:t>
            </a:r>
          </a:p>
        </p:txBody>
      </p:sp>
      <p:sp>
        <p:nvSpPr>
          <p:cNvPr id="51" name="D51"/>
          <p:cNvSpPr/>
          <p:nvPr/>
        </p:nvSpPr>
        <p:spPr>
          <a:xfrm>
            <a:off x="2068827" y="5660000"/>
            <a:ext cx="4501069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P2 테스트 14h</a:t>
            </a:r>
          </a:p>
        </p:txBody>
      </p:sp>
      <p:sp>
        <p:nvSpPr>
          <p:cNvPr id="52" name="D52"/>
          <p:cNvSpPr/>
          <p:nvPr/>
        </p:nvSpPr>
        <p:spPr>
          <a:xfrm>
            <a:off x="6569896" y="5660000"/>
            <a:ext cx="2634772" cy="26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P3 버그수정 8h</a:t>
            </a:r>
          </a:p>
        </p:txBody>
      </p:sp>
      <p:sp>
        <p:nvSpPr>
          <p:cNvPr id="53" name="D53"/>
          <p:cNvSpPr/>
          <p:nvPr/>
        </p:nvSpPr>
        <p:spPr>
          <a:xfrm>
            <a:off x="9204668" y="5660000"/>
            <a:ext cx="2634772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P4~5 배포 8h</a:t>
            </a:r>
          </a:p>
        </p:txBody>
      </p:sp>
    </p:spTree>
    <p:extLst>
      <p:ext uri="{BB962C8B-B14F-4D97-AF65-F5344CB8AC3E}">
        <p14:creationId xmlns:p14="http://schemas.microsoft.com/office/powerpoint/2010/main" val="1071532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견적 모듈 — Phase 1~2 간트차트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96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Phase 1~2 상세 일정 (4/14~4/15)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310000"/>
            <a:ext cx="2772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작업</a:t>
            </a:r>
          </a:p>
        </p:txBody>
      </p:sp>
      <p:sp>
        <p:nvSpPr>
          <p:cNvPr id="22" name="D22"/>
          <p:cNvSpPr/>
          <p:nvPr/>
        </p:nvSpPr>
        <p:spPr>
          <a:xfrm>
            <a:off x="3523441" y="1310000"/>
            <a:ext cx="2079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4/14 AM</a:t>
            </a:r>
          </a:p>
        </p:txBody>
      </p:sp>
      <p:sp>
        <p:nvSpPr>
          <p:cNvPr id="23" name="D23"/>
          <p:cNvSpPr/>
          <p:nvPr/>
        </p:nvSpPr>
        <p:spPr>
          <a:xfrm>
            <a:off x="5602441" y="1310000"/>
            <a:ext cx="2079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4/14 PM</a:t>
            </a:r>
          </a:p>
        </p:txBody>
      </p:sp>
      <p:sp>
        <p:nvSpPr>
          <p:cNvPr id="24" name="D24"/>
          <p:cNvSpPr/>
          <p:nvPr/>
        </p:nvSpPr>
        <p:spPr>
          <a:xfrm>
            <a:off x="7681441" y="1310000"/>
            <a:ext cx="2079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4/15 AM</a:t>
            </a:r>
          </a:p>
        </p:txBody>
      </p:sp>
      <p:sp>
        <p:nvSpPr>
          <p:cNvPr id="25" name="D25"/>
          <p:cNvSpPr/>
          <p:nvPr/>
        </p:nvSpPr>
        <p:spPr>
          <a:xfrm>
            <a:off x="9760441" y="1310000"/>
            <a:ext cx="2079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4/15 PM</a:t>
            </a:r>
          </a:p>
        </p:txBody>
      </p:sp>
      <p:sp>
        <p:nvSpPr>
          <p:cNvPr id="26" name="D26"/>
          <p:cNvSpPr/>
          <p:nvPr/>
        </p:nvSpPr>
        <p:spPr>
          <a:xfrm>
            <a:off x="751441" y="1630000"/>
            <a:ext cx="27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P1. 테스트 준비 (4h)</a:t>
            </a:r>
          </a:p>
        </p:txBody>
      </p:sp>
      <p:sp>
        <p:nvSpPr>
          <p:cNvPr id="27" name="D27"/>
          <p:cNvSpPr/>
          <p:nvPr/>
        </p:nvSpPr>
        <p:spPr>
          <a:xfrm>
            <a:off x="3523441" y="1630000"/>
            <a:ext cx="2079000" cy="3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8" name="D28"/>
          <p:cNvSpPr/>
          <p:nvPr/>
        </p:nvSpPr>
        <p:spPr>
          <a:xfrm>
            <a:off x="5602441" y="1630000"/>
            <a:ext cx="2079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9" name="D29"/>
          <p:cNvSpPr/>
          <p:nvPr/>
        </p:nvSpPr>
        <p:spPr>
          <a:xfrm>
            <a:off x="7681441" y="1630000"/>
            <a:ext cx="2079000" cy="3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0" name="D30"/>
          <p:cNvSpPr/>
          <p:nvPr/>
        </p:nvSpPr>
        <p:spPr>
          <a:xfrm>
            <a:off x="9760441" y="1630000"/>
            <a:ext cx="2079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1" name="D31"/>
          <p:cNvSpPr/>
          <p:nvPr/>
        </p:nvSpPr>
        <p:spPr>
          <a:xfrm>
            <a:off x="3543441" y="1660000"/>
            <a:ext cx="20390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2" name="D32"/>
          <p:cNvSpPr/>
          <p:nvPr/>
        </p:nvSpPr>
        <p:spPr>
          <a:xfrm>
            <a:off x="751441" y="1970000"/>
            <a:ext cx="27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P2-1. API 테스트 (7h)</a:t>
            </a:r>
          </a:p>
        </p:txBody>
      </p:sp>
      <p:sp>
        <p:nvSpPr>
          <p:cNvPr id="33" name="D33"/>
          <p:cNvSpPr/>
          <p:nvPr/>
        </p:nvSpPr>
        <p:spPr>
          <a:xfrm>
            <a:off x="3523441" y="1970000"/>
            <a:ext cx="2079000" cy="3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4" name="D34"/>
          <p:cNvSpPr/>
          <p:nvPr/>
        </p:nvSpPr>
        <p:spPr>
          <a:xfrm>
            <a:off x="5602441" y="1970000"/>
            <a:ext cx="2079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5" name="D35"/>
          <p:cNvSpPr/>
          <p:nvPr/>
        </p:nvSpPr>
        <p:spPr>
          <a:xfrm>
            <a:off x="7681441" y="1970000"/>
            <a:ext cx="2079000" cy="3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6" name="D36"/>
          <p:cNvSpPr/>
          <p:nvPr/>
        </p:nvSpPr>
        <p:spPr>
          <a:xfrm>
            <a:off x="9760441" y="1970000"/>
            <a:ext cx="2079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7" name="D37"/>
          <p:cNvSpPr/>
          <p:nvPr/>
        </p:nvSpPr>
        <p:spPr>
          <a:xfrm>
            <a:off x="5622441" y="2000000"/>
            <a:ext cx="20390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8" name="D38"/>
          <p:cNvSpPr/>
          <p:nvPr/>
        </p:nvSpPr>
        <p:spPr>
          <a:xfrm>
            <a:off x="751441" y="2310000"/>
            <a:ext cx="27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P2-2. UI 테스트 (7.5h)</a:t>
            </a:r>
          </a:p>
        </p:txBody>
      </p:sp>
      <p:sp>
        <p:nvSpPr>
          <p:cNvPr id="39" name="D39"/>
          <p:cNvSpPr/>
          <p:nvPr/>
        </p:nvSpPr>
        <p:spPr>
          <a:xfrm>
            <a:off x="3523441" y="2310000"/>
            <a:ext cx="2079000" cy="3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0" name="D40"/>
          <p:cNvSpPr/>
          <p:nvPr/>
        </p:nvSpPr>
        <p:spPr>
          <a:xfrm>
            <a:off x="5602441" y="2310000"/>
            <a:ext cx="2079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1" name="D41"/>
          <p:cNvSpPr/>
          <p:nvPr/>
        </p:nvSpPr>
        <p:spPr>
          <a:xfrm>
            <a:off x="7681441" y="2310000"/>
            <a:ext cx="2079000" cy="3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2" name="D42"/>
          <p:cNvSpPr/>
          <p:nvPr/>
        </p:nvSpPr>
        <p:spPr>
          <a:xfrm>
            <a:off x="9760441" y="2310000"/>
            <a:ext cx="2079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3" name="D43"/>
          <p:cNvSpPr/>
          <p:nvPr/>
        </p:nvSpPr>
        <p:spPr>
          <a:xfrm>
            <a:off x="7701441" y="2340000"/>
            <a:ext cx="20390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4" name="D44"/>
          <p:cNvSpPr/>
          <p:nvPr/>
        </p:nvSpPr>
        <p:spPr>
          <a:xfrm>
            <a:off x="751441" y="2650000"/>
            <a:ext cx="277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P2-3. 통합/엣지 (5h)</a:t>
            </a:r>
          </a:p>
        </p:txBody>
      </p:sp>
      <p:sp>
        <p:nvSpPr>
          <p:cNvPr id="45" name="D45"/>
          <p:cNvSpPr/>
          <p:nvPr/>
        </p:nvSpPr>
        <p:spPr>
          <a:xfrm>
            <a:off x="3523441" y="2650000"/>
            <a:ext cx="2079000" cy="3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6" name="D46"/>
          <p:cNvSpPr/>
          <p:nvPr/>
        </p:nvSpPr>
        <p:spPr>
          <a:xfrm>
            <a:off x="5602441" y="2650000"/>
            <a:ext cx="2079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7" name="D47"/>
          <p:cNvSpPr/>
          <p:nvPr/>
        </p:nvSpPr>
        <p:spPr>
          <a:xfrm>
            <a:off x="7681441" y="2650000"/>
            <a:ext cx="2079000" cy="3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8" name="D48"/>
          <p:cNvSpPr/>
          <p:nvPr/>
        </p:nvSpPr>
        <p:spPr>
          <a:xfrm>
            <a:off x="9760441" y="2650000"/>
            <a:ext cx="2079000" cy="30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9" name="D49"/>
          <p:cNvSpPr/>
          <p:nvPr/>
        </p:nvSpPr>
        <p:spPr>
          <a:xfrm>
            <a:off x="9780441" y="2680000"/>
            <a:ext cx="20390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50" name="D50"/>
          <p:cNvSpPr/>
          <p:nvPr/>
        </p:nvSpPr>
        <p:spPr>
          <a:xfrm>
            <a:off x="751441" y="2990000"/>
            <a:ext cx="110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51" name="D51"/>
          <p:cNvSpPr/>
          <p:nvPr/>
        </p:nvSpPr>
        <p:spPr>
          <a:xfrm>
            <a:off x="751441" y="3070000"/>
            <a:ext cx="11088000" cy="28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52" name="D52"/>
          <p:cNvSpPr/>
          <p:nvPr/>
        </p:nvSpPr>
        <p:spPr>
          <a:xfrm>
            <a:off x="751441" y="3070000"/>
            <a:ext cx="2772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총 소요: 23.5h</a:t>
            </a:r>
          </a:p>
        </p:txBody>
      </p:sp>
      <p:sp>
        <p:nvSpPr>
          <p:cNvPr id="53" name="D53"/>
          <p:cNvSpPr/>
          <p:nvPr/>
        </p:nvSpPr>
        <p:spPr>
          <a:xfrm>
            <a:off x="3523441" y="3070000"/>
            <a:ext cx="2772000" cy="28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기간: 2일</a:t>
            </a:r>
          </a:p>
        </p:txBody>
      </p:sp>
      <p:sp>
        <p:nvSpPr>
          <p:cNvPr id="54" name="D54"/>
          <p:cNvSpPr/>
          <p:nvPr/>
        </p:nvSpPr>
        <p:spPr>
          <a:xfrm>
            <a:off x="6295441" y="3070000"/>
            <a:ext cx="2772000" cy="28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투입: 1명</a:t>
            </a:r>
          </a:p>
        </p:txBody>
      </p:sp>
      <p:sp>
        <p:nvSpPr>
          <p:cNvPr id="55" name="D55"/>
          <p:cNvSpPr/>
          <p:nvPr/>
        </p:nvSpPr>
        <p:spPr>
          <a:xfrm>
            <a:off x="9067441" y="3070000"/>
            <a:ext cx="2772000" cy="28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산출물: 테스트 리포트</a:t>
            </a:r>
          </a:p>
        </p:txBody>
      </p:sp>
    </p:spTree>
    <p:extLst>
      <p:ext uri="{BB962C8B-B14F-4D97-AF65-F5344CB8AC3E}">
        <p14:creationId xmlns:p14="http://schemas.microsoft.com/office/powerpoint/2010/main" val="3541295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견적 모듈 — Phase 3~5 프로세스 + 리스크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96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Phase 3~5 프로세스 플로우 (4/16~4/17)</a:t>
            </a:r>
          </a:p>
        </p:txBody>
      </p:sp>
      <p:sp>
        <p:nvSpPr>
          <p:cNvPr id="21" name="D21"/>
          <p:cNvSpPr/>
          <p:nvPr/>
        </p:nvSpPr>
        <p:spPr>
          <a:xfrm>
            <a:off x="771441" y="1320000"/>
            <a:ext cx="3656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P3. 버그 수정 (4/16, 8h)</a:t>
            </a:r>
          </a:p>
        </p:txBody>
      </p:sp>
      <p:sp>
        <p:nvSpPr>
          <p:cNvPr id="22" name="D22"/>
          <p:cNvSpPr/>
          <p:nvPr/>
        </p:nvSpPr>
        <p:spPr>
          <a:xfrm>
            <a:off x="4467441" y="1320000"/>
            <a:ext cx="3656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P4. 배포 준비 (4/16~17, 4h)</a:t>
            </a:r>
          </a:p>
        </p:txBody>
      </p:sp>
      <p:sp>
        <p:nvSpPr>
          <p:cNvPr id="23" name="D23"/>
          <p:cNvSpPr/>
          <p:nvPr/>
        </p:nvSpPr>
        <p:spPr>
          <a:xfrm>
            <a:off x="8163441" y="1320000"/>
            <a:ext cx="3656000" cy="28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P5. 검증/완료 (4/17, 4h)</a:t>
            </a:r>
          </a:p>
        </p:txBody>
      </p:sp>
      <p:sp>
        <p:nvSpPr>
          <p:cNvPr id="24" name="D24"/>
          <p:cNvSpPr/>
          <p:nvPr/>
        </p:nvSpPr>
        <p:spPr>
          <a:xfrm>
            <a:off x="4427441" y="1410000"/>
            <a:ext cx="40000" cy="10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5" name="D25"/>
          <p:cNvSpPr/>
          <p:nvPr/>
        </p:nvSpPr>
        <p:spPr>
          <a:xfrm>
            <a:off x="8123441" y="1410000"/>
            <a:ext cx="40000" cy="10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6" name="D26"/>
          <p:cNvSpPr/>
          <p:nvPr/>
        </p:nvSpPr>
        <p:spPr>
          <a:xfrm>
            <a:off x="751441" y="180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작업 상세</a:t>
            </a:r>
          </a:p>
        </p:txBody>
      </p:sp>
      <p:sp>
        <p:nvSpPr>
          <p:cNvPr id="27" name="D27"/>
          <p:cNvSpPr/>
          <p:nvPr/>
        </p:nvSpPr>
        <p:spPr>
          <a:xfrm>
            <a:off x="771441" y="214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Critical 버그 우선 수정</a:t>
            </a:r>
          </a:p>
        </p:txBody>
      </p:sp>
      <p:sp>
        <p:nvSpPr>
          <p:cNvPr id="28" name="D28"/>
          <p:cNvSpPr/>
          <p:nvPr/>
        </p:nvSpPr>
        <p:spPr>
          <a:xfrm>
            <a:off x="771441" y="241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전체 테스트 재실행</a:t>
            </a:r>
          </a:p>
        </p:txBody>
      </p:sp>
      <p:sp>
        <p:nvSpPr>
          <p:cNvPr id="29" name="D29"/>
          <p:cNvSpPr/>
          <p:nvPr/>
        </p:nvSpPr>
        <p:spPr>
          <a:xfrm>
            <a:off x="771441" y="268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결함 보고서 작성</a:t>
            </a:r>
          </a:p>
        </p:txBody>
      </p:sp>
      <p:sp>
        <p:nvSpPr>
          <p:cNvPr id="30" name="D30"/>
          <p:cNvSpPr/>
          <p:nvPr/>
        </p:nvSpPr>
        <p:spPr>
          <a:xfrm>
            <a:off x="4467441" y="214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Docker 이미지 빌드</a:t>
            </a:r>
          </a:p>
        </p:txBody>
      </p:sp>
      <p:sp>
        <p:nvSpPr>
          <p:cNvPr id="31" name="D31"/>
          <p:cNvSpPr/>
          <p:nvPr/>
        </p:nvSpPr>
        <p:spPr>
          <a:xfrm>
            <a:off x="4467441" y="241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DB 마이그레이션 준비</a:t>
            </a:r>
          </a:p>
        </p:txBody>
      </p:sp>
      <p:sp>
        <p:nvSpPr>
          <p:cNvPr id="32" name="D32"/>
          <p:cNvSpPr/>
          <p:nvPr/>
        </p:nvSpPr>
        <p:spPr>
          <a:xfrm>
            <a:off x="4467441" y="268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배포 체크리스트 확인</a:t>
            </a:r>
          </a:p>
        </p:txBody>
      </p:sp>
      <p:sp>
        <p:nvSpPr>
          <p:cNvPr id="33" name="D33"/>
          <p:cNvSpPr/>
          <p:nvPr/>
        </p:nvSpPr>
        <p:spPr>
          <a:xfrm>
            <a:off x="8163441" y="214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스테이징 배포 검증</a:t>
            </a:r>
          </a:p>
        </p:txBody>
      </p:sp>
      <p:sp>
        <p:nvSpPr>
          <p:cNvPr id="34" name="D34"/>
          <p:cNvSpPr/>
          <p:nvPr/>
        </p:nvSpPr>
        <p:spPr>
          <a:xfrm>
            <a:off x="8163441" y="241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운영 배포 실행</a:t>
            </a:r>
          </a:p>
        </p:txBody>
      </p:sp>
      <p:sp>
        <p:nvSpPr>
          <p:cNvPr id="35" name="D35"/>
          <p:cNvSpPr/>
          <p:nvPr/>
        </p:nvSpPr>
        <p:spPr>
          <a:xfrm>
            <a:off x="8163441" y="2680000"/>
            <a:ext cx="3656000" cy="2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모니터링 확인/완료</a:t>
            </a:r>
          </a:p>
        </p:txBody>
      </p:sp>
      <p:sp>
        <p:nvSpPr>
          <p:cNvPr id="36" name="D36"/>
          <p:cNvSpPr/>
          <p:nvPr/>
        </p:nvSpPr>
        <p:spPr>
          <a:xfrm>
            <a:off x="751441" y="305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리스크</a:t>
            </a:r>
          </a:p>
        </p:txBody>
      </p:sp>
      <p:sp>
        <p:nvSpPr>
          <p:cNvPr id="37" name="D37"/>
          <p:cNvSpPr/>
          <p:nvPr/>
        </p:nvSpPr>
        <p:spPr>
          <a:xfrm>
            <a:off x="751441" y="3390000"/>
            <a:ext cx="800000" cy="25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ID</a:t>
            </a:r>
          </a:p>
        </p:txBody>
      </p:sp>
      <p:sp>
        <p:nvSpPr>
          <p:cNvPr id="38" name="D38"/>
          <p:cNvSpPr/>
          <p:nvPr/>
        </p:nvSpPr>
        <p:spPr>
          <a:xfrm>
            <a:off x="1551441" y="3390000"/>
            <a:ext cx="7000000" cy="25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설명</a:t>
            </a:r>
          </a:p>
        </p:txBody>
      </p:sp>
      <p:sp>
        <p:nvSpPr>
          <p:cNvPr id="39" name="D39"/>
          <p:cNvSpPr/>
          <p:nvPr/>
        </p:nvSpPr>
        <p:spPr>
          <a:xfrm>
            <a:off x="8551441" y="3390000"/>
            <a:ext cx="3288000" cy="25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영향도</a:t>
            </a:r>
          </a:p>
        </p:txBody>
      </p:sp>
      <p:sp>
        <p:nvSpPr>
          <p:cNvPr id="40" name="D40"/>
          <p:cNvSpPr/>
          <p:nvPr/>
        </p:nvSpPr>
        <p:spPr>
          <a:xfrm>
            <a:off x="751441" y="364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R1</a:t>
            </a:r>
          </a:p>
        </p:txBody>
      </p:sp>
      <p:sp>
        <p:nvSpPr>
          <p:cNvPr id="41" name="D41"/>
          <p:cNvSpPr/>
          <p:nvPr/>
        </p:nvSpPr>
        <p:spPr>
          <a:xfrm>
            <a:off x="1551441" y="3640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Critical 버그 발견 시 일정 지연</a:t>
            </a:r>
          </a:p>
        </p:txBody>
      </p:sp>
      <p:sp>
        <p:nvSpPr>
          <p:cNvPr id="42" name="D42"/>
          <p:cNvSpPr/>
          <p:nvPr/>
        </p:nvSpPr>
        <p:spPr>
          <a:xfrm>
            <a:off x="8551441" y="3640000"/>
            <a:ext cx="3288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높음</a:t>
            </a:r>
          </a:p>
        </p:txBody>
      </p:sp>
      <p:sp>
        <p:nvSpPr>
          <p:cNvPr id="43" name="D43"/>
          <p:cNvSpPr/>
          <p:nvPr/>
        </p:nvSpPr>
        <p:spPr>
          <a:xfrm>
            <a:off x="751441" y="389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R2</a:t>
            </a:r>
          </a:p>
        </p:txBody>
      </p:sp>
      <p:sp>
        <p:nvSpPr>
          <p:cNvPr id="44" name="D44"/>
          <p:cNvSpPr/>
          <p:nvPr/>
        </p:nvSpPr>
        <p:spPr>
          <a:xfrm>
            <a:off x="1551441" y="3890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DB 마이그레이션 실패 가능성</a:t>
            </a:r>
          </a:p>
        </p:txBody>
      </p:sp>
      <p:sp>
        <p:nvSpPr>
          <p:cNvPr id="45" name="D45"/>
          <p:cNvSpPr/>
          <p:nvPr/>
        </p:nvSpPr>
        <p:spPr>
          <a:xfrm>
            <a:off x="8551441" y="3890000"/>
            <a:ext cx="3288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중간</a:t>
            </a:r>
          </a:p>
        </p:txBody>
      </p:sp>
      <p:sp>
        <p:nvSpPr>
          <p:cNvPr id="46" name="D46"/>
          <p:cNvSpPr/>
          <p:nvPr/>
        </p:nvSpPr>
        <p:spPr>
          <a:xfrm>
            <a:off x="751441" y="414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R3</a:t>
            </a:r>
          </a:p>
        </p:txBody>
      </p:sp>
      <p:sp>
        <p:nvSpPr>
          <p:cNvPr id="47" name="D47"/>
          <p:cNvSpPr/>
          <p:nvPr/>
        </p:nvSpPr>
        <p:spPr>
          <a:xfrm>
            <a:off x="1551441" y="4140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Docker 빌드 환경 오류</a:t>
            </a:r>
          </a:p>
        </p:txBody>
      </p:sp>
      <p:sp>
        <p:nvSpPr>
          <p:cNvPr id="48" name="D48"/>
          <p:cNvSpPr/>
          <p:nvPr/>
        </p:nvSpPr>
        <p:spPr>
          <a:xfrm>
            <a:off x="8551441" y="4140000"/>
            <a:ext cx="3288000" cy="25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낮음</a:t>
            </a:r>
          </a:p>
        </p:txBody>
      </p:sp>
    </p:spTree>
    <p:extLst>
      <p:ext uri="{BB962C8B-B14F-4D97-AF65-F5344CB8AC3E}">
        <p14:creationId xmlns:p14="http://schemas.microsoft.com/office/powerpoint/2010/main" val="319597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ATL-RAMS SOP WBS (목표일: 2026-05-22)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96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현황 요약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320000"/>
            <a:ext cx="1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코드 완성도</a:t>
            </a:r>
          </a:p>
        </p:txBody>
      </p:sp>
      <p:sp>
        <p:nvSpPr>
          <p:cNvPr id="22" name="D22"/>
          <p:cNvSpPr/>
          <p:nvPr/>
        </p:nvSpPr>
        <p:spPr>
          <a:xfrm>
            <a:off x="2351441" y="1320000"/>
            <a:ext cx="8588000" cy="2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3" name="D23"/>
          <p:cNvSpPr/>
          <p:nvPr/>
        </p:nvSpPr>
        <p:spPr>
          <a:xfrm>
            <a:off x="2351441" y="1320000"/>
            <a:ext cx="7986840" cy="22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4" name="D24"/>
          <p:cNvSpPr/>
          <p:nvPr/>
        </p:nvSpPr>
        <p:spPr>
          <a:xfrm>
            <a:off x="11039441" y="1320000"/>
            <a:ext cx="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93%</a:t>
            </a:r>
          </a:p>
        </p:txBody>
      </p:sp>
      <p:sp>
        <p:nvSpPr>
          <p:cNvPr id="25" name="D25"/>
          <p:cNvSpPr/>
          <p:nvPr/>
        </p:nvSpPr>
        <p:spPr>
          <a:xfrm>
            <a:off x="751441" y="1580000"/>
            <a:ext cx="1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테스트 커버리지</a:t>
            </a:r>
          </a:p>
        </p:txBody>
      </p:sp>
      <p:sp>
        <p:nvSpPr>
          <p:cNvPr id="26" name="D26"/>
          <p:cNvSpPr/>
          <p:nvPr/>
        </p:nvSpPr>
        <p:spPr>
          <a:xfrm>
            <a:off x="2351441" y="1580000"/>
            <a:ext cx="8588000" cy="2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7" name="D27"/>
          <p:cNvSpPr/>
          <p:nvPr/>
        </p:nvSpPr>
        <p:spPr>
          <a:xfrm>
            <a:off x="2351441" y="1580000"/>
            <a:ext cx="7729200" cy="22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28" name="D28"/>
          <p:cNvSpPr/>
          <p:nvPr/>
        </p:nvSpPr>
        <p:spPr>
          <a:xfrm>
            <a:off x="11039441" y="1580000"/>
            <a:ext cx="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90%</a:t>
            </a:r>
          </a:p>
        </p:txBody>
      </p:sp>
      <p:sp>
        <p:nvSpPr>
          <p:cNvPr id="29" name="D29"/>
          <p:cNvSpPr/>
          <p:nvPr/>
        </p:nvSpPr>
        <p:spPr>
          <a:xfrm>
            <a:off x="751441" y="1840000"/>
            <a:ext cx="1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통신 안정성</a:t>
            </a:r>
          </a:p>
        </p:txBody>
      </p:sp>
      <p:sp>
        <p:nvSpPr>
          <p:cNvPr id="30" name="D30"/>
          <p:cNvSpPr/>
          <p:nvPr/>
        </p:nvSpPr>
        <p:spPr>
          <a:xfrm>
            <a:off x="2351441" y="1840000"/>
            <a:ext cx="8588000" cy="2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1" name="D31"/>
          <p:cNvSpPr/>
          <p:nvPr/>
        </p:nvSpPr>
        <p:spPr>
          <a:xfrm>
            <a:off x="2351441" y="1840000"/>
            <a:ext cx="7557440" cy="22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2" name="D32"/>
          <p:cNvSpPr/>
          <p:nvPr/>
        </p:nvSpPr>
        <p:spPr>
          <a:xfrm>
            <a:off x="11039441" y="1840000"/>
            <a:ext cx="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88%</a:t>
            </a:r>
          </a:p>
        </p:txBody>
      </p:sp>
      <p:sp>
        <p:nvSpPr>
          <p:cNvPr id="33" name="D33"/>
          <p:cNvSpPr/>
          <p:nvPr/>
        </p:nvSpPr>
        <p:spPr>
          <a:xfrm>
            <a:off x="751441" y="2100000"/>
            <a:ext cx="1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배포 준비도</a:t>
            </a:r>
          </a:p>
        </p:txBody>
      </p:sp>
      <p:sp>
        <p:nvSpPr>
          <p:cNvPr id="34" name="D34"/>
          <p:cNvSpPr/>
          <p:nvPr/>
        </p:nvSpPr>
        <p:spPr>
          <a:xfrm>
            <a:off x="2351441" y="2100000"/>
            <a:ext cx="8588000" cy="2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5" name="D35"/>
          <p:cNvSpPr/>
          <p:nvPr/>
        </p:nvSpPr>
        <p:spPr>
          <a:xfrm>
            <a:off x="2351441" y="2100000"/>
            <a:ext cx="6011600" cy="22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36" name="D36"/>
          <p:cNvSpPr/>
          <p:nvPr/>
        </p:nvSpPr>
        <p:spPr>
          <a:xfrm>
            <a:off x="11039441" y="2100000"/>
            <a:ext cx="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70%</a:t>
            </a:r>
          </a:p>
        </p:txBody>
      </p:sp>
      <p:sp>
        <p:nvSpPr>
          <p:cNvPr id="37" name="D37"/>
          <p:cNvSpPr/>
          <p:nvPr/>
        </p:nvSpPr>
        <p:spPr>
          <a:xfrm>
            <a:off x="751441" y="252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6주 타임라인 (04/13~05/22)</a:t>
            </a:r>
          </a:p>
        </p:txBody>
      </p:sp>
      <p:sp>
        <p:nvSpPr>
          <p:cNvPr id="38" name="D38"/>
          <p:cNvSpPr/>
          <p:nvPr/>
        </p:nvSpPr>
        <p:spPr>
          <a:xfrm>
            <a:off x="751441" y="2860000"/>
            <a:ext cx="1848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W1</a:t>
            </a:r>
          </a:p>
        </p:txBody>
      </p:sp>
      <p:sp>
        <p:nvSpPr>
          <p:cNvPr id="39" name="D39"/>
          <p:cNvSpPr/>
          <p:nvPr/>
        </p:nvSpPr>
        <p:spPr>
          <a:xfrm>
            <a:off x="2599441" y="2860000"/>
            <a:ext cx="1848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W2</a:t>
            </a:r>
          </a:p>
        </p:txBody>
      </p:sp>
      <p:sp>
        <p:nvSpPr>
          <p:cNvPr id="40" name="D40"/>
          <p:cNvSpPr/>
          <p:nvPr/>
        </p:nvSpPr>
        <p:spPr>
          <a:xfrm>
            <a:off x="4447441" y="2860000"/>
            <a:ext cx="1848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W3</a:t>
            </a:r>
          </a:p>
        </p:txBody>
      </p:sp>
      <p:sp>
        <p:nvSpPr>
          <p:cNvPr id="41" name="D41"/>
          <p:cNvSpPr/>
          <p:nvPr/>
        </p:nvSpPr>
        <p:spPr>
          <a:xfrm>
            <a:off x="6295441" y="2860000"/>
            <a:ext cx="1848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W4</a:t>
            </a:r>
          </a:p>
        </p:txBody>
      </p:sp>
      <p:sp>
        <p:nvSpPr>
          <p:cNvPr id="42" name="D42"/>
          <p:cNvSpPr/>
          <p:nvPr/>
        </p:nvSpPr>
        <p:spPr>
          <a:xfrm>
            <a:off x="8143441" y="2860000"/>
            <a:ext cx="1848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W5</a:t>
            </a:r>
          </a:p>
        </p:txBody>
      </p:sp>
      <p:sp>
        <p:nvSpPr>
          <p:cNvPr id="43" name="D43"/>
          <p:cNvSpPr/>
          <p:nvPr/>
        </p:nvSpPr>
        <p:spPr>
          <a:xfrm>
            <a:off x="9991441" y="2860000"/>
            <a:ext cx="1848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W6</a:t>
            </a:r>
          </a:p>
        </p:txBody>
      </p:sp>
      <p:sp>
        <p:nvSpPr>
          <p:cNvPr id="44" name="D44"/>
          <p:cNvSpPr/>
          <p:nvPr/>
        </p:nvSpPr>
        <p:spPr>
          <a:xfrm>
            <a:off x="751441" y="3160000"/>
            <a:ext cx="22176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P1. 기능 완료</a:t>
            </a:r>
          </a:p>
        </p:txBody>
      </p:sp>
      <p:sp>
        <p:nvSpPr>
          <p:cNvPr id="45" name="D45"/>
          <p:cNvSpPr/>
          <p:nvPr/>
        </p:nvSpPr>
        <p:spPr>
          <a:xfrm>
            <a:off x="2969041" y="3160000"/>
            <a:ext cx="18280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6" name="D46"/>
          <p:cNvSpPr/>
          <p:nvPr/>
        </p:nvSpPr>
        <p:spPr>
          <a:xfrm>
            <a:off x="751441" y="3440000"/>
            <a:ext cx="22176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P2. 통합 시험</a:t>
            </a:r>
          </a:p>
        </p:txBody>
      </p:sp>
      <p:sp>
        <p:nvSpPr>
          <p:cNvPr id="47" name="D47"/>
          <p:cNvSpPr/>
          <p:nvPr/>
        </p:nvSpPr>
        <p:spPr>
          <a:xfrm>
            <a:off x="4817041" y="3440000"/>
            <a:ext cx="18280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48" name="D48"/>
          <p:cNvSpPr/>
          <p:nvPr/>
        </p:nvSpPr>
        <p:spPr>
          <a:xfrm>
            <a:off x="751441" y="3720000"/>
            <a:ext cx="22176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P3. 코드 프리즈</a:t>
            </a:r>
          </a:p>
        </p:txBody>
      </p:sp>
      <p:sp>
        <p:nvSpPr>
          <p:cNvPr id="49" name="D49"/>
          <p:cNvSpPr/>
          <p:nvPr/>
        </p:nvSpPr>
        <p:spPr>
          <a:xfrm>
            <a:off x="6665041" y="3720000"/>
            <a:ext cx="18280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50" name="D50"/>
          <p:cNvSpPr/>
          <p:nvPr/>
        </p:nvSpPr>
        <p:spPr>
          <a:xfrm>
            <a:off x="751441" y="4000000"/>
            <a:ext cx="22176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P4. 배포 패키징</a:t>
            </a:r>
          </a:p>
        </p:txBody>
      </p:sp>
      <p:sp>
        <p:nvSpPr>
          <p:cNvPr id="51" name="D51"/>
          <p:cNvSpPr/>
          <p:nvPr/>
        </p:nvSpPr>
        <p:spPr>
          <a:xfrm>
            <a:off x="8513041" y="4000000"/>
            <a:ext cx="18280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52" name="D52"/>
          <p:cNvSpPr/>
          <p:nvPr/>
        </p:nvSpPr>
        <p:spPr>
          <a:xfrm>
            <a:off x="751441" y="4280000"/>
            <a:ext cx="22176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P5. 최종 검증</a:t>
            </a:r>
          </a:p>
        </p:txBody>
      </p:sp>
      <p:sp>
        <p:nvSpPr>
          <p:cNvPr id="53" name="D53"/>
          <p:cNvSpPr/>
          <p:nvPr/>
        </p:nvSpPr>
        <p:spPr>
          <a:xfrm>
            <a:off x="10361041" y="4280000"/>
            <a:ext cx="1478400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54" name="D54"/>
          <p:cNvSpPr/>
          <p:nvPr/>
        </p:nvSpPr>
        <p:spPr>
          <a:xfrm>
            <a:off x="751441" y="4560000"/>
            <a:ext cx="22176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P6. SOP/릴리즈</a:t>
            </a:r>
          </a:p>
        </p:txBody>
      </p:sp>
      <p:sp>
        <p:nvSpPr>
          <p:cNvPr id="55" name="D55"/>
          <p:cNvSpPr/>
          <p:nvPr/>
        </p:nvSpPr>
        <p:spPr>
          <a:xfrm>
            <a:off x="9994899" y="4560000"/>
            <a:ext cx="1844541" cy="2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endParaRPr/>
          </a:p>
        </p:txBody>
      </p:sp>
      <p:sp>
        <p:nvSpPr>
          <p:cNvPr id="56" name="D56"/>
          <p:cNvSpPr/>
          <p:nvPr/>
        </p:nvSpPr>
        <p:spPr>
          <a:xfrm>
            <a:off x="751441" y="494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핵심 마일스톤</a:t>
            </a:r>
          </a:p>
        </p:txBody>
      </p:sp>
      <p:sp>
        <p:nvSpPr>
          <p:cNvPr id="57" name="D57"/>
          <p:cNvSpPr/>
          <p:nvPr/>
        </p:nvSpPr>
        <p:spPr>
          <a:xfrm>
            <a:off x="751441" y="5280000"/>
            <a:ext cx="277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04/19  기능 코드 완료</a:t>
            </a:r>
          </a:p>
        </p:txBody>
      </p:sp>
      <p:sp>
        <p:nvSpPr>
          <p:cNvPr id="58" name="D58"/>
          <p:cNvSpPr/>
          <p:nvPr/>
        </p:nvSpPr>
        <p:spPr>
          <a:xfrm>
            <a:off x="3523441" y="5280000"/>
            <a:ext cx="277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04/27  통합 시험 완료</a:t>
            </a:r>
          </a:p>
        </p:txBody>
      </p:sp>
      <p:sp>
        <p:nvSpPr>
          <p:cNvPr id="59" name="D59"/>
          <p:cNvSpPr/>
          <p:nvPr/>
        </p:nvSpPr>
        <p:spPr>
          <a:xfrm>
            <a:off x="6295441" y="5280000"/>
            <a:ext cx="277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05/10  코드 프리즈</a:t>
            </a:r>
          </a:p>
        </p:txBody>
      </p:sp>
      <p:sp>
        <p:nvSpPr>
          <p:cNvPr id="60" name="D60"/>
          <p:cNvSpPr/>
          <p:nvPr/>
        </p:nvSpPr>
        <p:spPr>
          <a:xfrm>
            <a:off x="9067441" y="5280000"/>
            <a:ext cx="2772000" cy="26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05/22  SOP 릴리즈</a:t>
            </a:r>
          </a:p>
        </p:txBody>
      </p:sp>
    </p:spTree>
    <p:extLst>
      <p:ext uri="{BB962C8B-B14F-4D97-AF65-F5344CB8AC3E}">
        <p14:creationId xmlns:p14="http://schemas.microsoft.com/office/powerpoint/2010/main" val="553426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ATL-RAMS — Phase 1~3 산출물 흐름도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960000"/>
            <a:ext cx="3676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P1. 기능 완료 (W1)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320000"/>
            <a:ext cx="367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잔여 기능 구현 완료</a:t>
            </a:r>
          </a:p>
        </p:txBody>
      </p:sp>
      <p:sp>
        <p:nvSpPr>
          <p:cNvPr id="22" name="D22"/>
          <p:cNvSpPr/>
          <p:nvPr/>
        </p:nvSpPr>
        <p:spPr>
          <a:xfrm>
            <a:off x="751441" y="1620000"/>
            <a:ext cx="3676000" cy="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단위 테스트 작성</a:t>
            </a:r>
          </a:p>
        </p:txBody>
      </p:sp>
      <p:sp>
        <p:nvSpPr>
          <p:cNvPr id="23" name="D23"/>
          <p:cNvSpPr/>
          <p:nvPr/>
        </p:nvSpPr>
        <p:spPr>
          <a:xfrm>
            <a:off x="751441" y="1920000"/>
            <a:ext cx="367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코드 리뷰 완료</a:t>
            </a:r>
          </a:p>
        </p:txBody>
      </p:sp>
      <p:sp>
        <p:nvSpPr>
          <p:cNvPr id="24" name="D24"/>
          <p:cNvSpPr/>
          <p:nvPr/>
        </p:nvSpPr>
        <p:spPr>
          <a:xfrm>
            <a:off x="751441" y="2300000"/>
            <a:ext cx="3676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기능 코드 100%</a:t>
            </a:r>
          </a:p>
        </p:txBody>
      </p:sp>
      <p:sp>
        <p:nvSpPr>
          <p:cNvPr id="25" name="D25"/>
          <p:cNvSpPr/>
          <p:nvPr/>
        </p:nvSpPr>
        <p:spPr>
          <a:xfrm>
            <a:off x="4467441" y="960000"/>
            <a:ext cx="3676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P2. 통합 시험 (W2)</a:t>
            </a:r>
          </a:p>
        </p:txBody>
      </p:sp>
      <p:sp>
        <p:nvSpPr>
          <p:cNvPr id="26" name="D26"/>
          <p:cNvSpPr/>
          <p:nvPr/>
        </p:nvSpPr>
        <p:spPr>
          <a:xfrm>
            <a:off x="4467441" y="1320000"/>
            <a:ext cx="367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HW 연동 통합 테스트</a:t>
            </a:r>
          </a:p>
        </p:txBody>
      </p:sp>
      <p:sp>
        <p:nvSpPr>
          <p:cNvPr id="27" name="D27"/>
          <p:cNvSpPr/>
          <p:nvPr/>
        </p:nvSpPr>
        <p:spPr>
          <a:xfrm>
            <a:off x="4467441" y="1620000"/>
            <a:ext cx="3676000" cy="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시리얼 통신 안정성 검증</a:t>
            </a:r>
          </a:p>
        </p:txBody>
      </p:sp>
      <p:sp>
        <p:nvSpPr>
          <p:cNvPr id="28" name="D28"/>
          <p:cNvSpPr/>
          <p:nvPr/>
        </p:nvSpPr>
        <p:spPr>
          <a:xfrm>
            <a:off x="4467441" y="1920000"/>
            <a:ext cx="367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결함 수정 및 재테스트</a:t>
            </a:r>
          </a:p>
        </p:txBody>
      </p:sp>
      <p:sp>
        <p:nvSpPr>
          <p:cNvPr id="29" name="D29"/>
          <p:cNvSpPr/>
          <p:nvPr/>
        </p:nvSpPr>
        <p:spPr>
          <a:xfrm>
            <a:off x="4467441" y="2300000"/>
            <a:ext cx="3676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통합 테스트 리포트</a:t>
            </a:r>
          </a:p>
        </p:txBody>
      </p:sp>
      <p:sp>
        <p:nvSpPr>
          <p:cNvPr id="30" name="D30"/>
          <p:cNvSpPr/>
          <p:nvPr/>
        </p:nvSpPr>
        <p:spPr>
          <a:xfrm>
            <a:off x="8163441" y="960000"/>
            <a:ext cx="3696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P3. 코드 프리즈 (W3)</a:t>
            </a:r>
          </a:p>
        </p:txBody>
      </p:sp>
      <p:sp>
        <p:nvSpPr>
          <p:cNvPr id="31" name="D31"/>
          <p:cNvSpPr/>
          <p:nvPr/>
        </p:nvSpPr>
        <p:spPr>
          <a:xfrm>
            <a:off x="8163441" y="1320000"/>
            <a:ext cx="369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코드 프리즈 선언</a:t>
            </a:r>
          </a:p>
        </p:txBody>
      </p:sp>
      <p:sp>
        <p:nvSpPr>
          <p:cNvPr id="32" name="D32"/>
          <p:cNvSpPr/>
          <p:nvPr/>
        </p:nvSpPr>
        <p:spPr>
          <a:xfrm>
            <a:off x="8163441" y="1620000"/>
            <a:ext cx="3696000" cy="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회귀 테스트 전수 실행</a:t>
            </a:r>
          </a:p>
        </p:txBody>
      </p:sp>
      <p:sp>
        <p:nvSpPr>
          <p:cNvPr id="33" name="D33"/>
          <p:cNvSpPr/>
          <p:nvPr/>
        </p:nvSpPr>
        <p:spPr>
          <a:xfrm>
            <a:off x="8163441" y="1920000"/>
            <a:ext cx="369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핫픽스만 허용</a:t>
            </a:r>
          </a:p>
        </p:txBody>
      </p:sp>
      <p:sp>
        <p:nvSpPr>
          <p:cNvPr id="34" name="D34"/>
          <p:cNvSpPr/>
          <p:nvPr/>
        </p:nvSpPr>
        <p:spPr>
          <a:xfrm>
            <a:off x="8163441" y="2300000"/>
            <a:ext cx="3696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안정화 완료 확인서</a:t>
            </a:r>
          </a:p>
        </p:txBody>
      </p:sp>
      <p:sp>
        <p:nvSpPr>
          <p:cNvPr id="35" name="D35"/>
          <p:cNvSpPr/>
          <p:nvPr/>
        </p:nvSpPr>
        <p:spPr>
          <a:xfrm>
            <a:off x="751441" y="274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W1~W3 목표: 코드 프리즈 완료 (04/19~05/03)</a:t>
            </a:r>
          </a:p>
        </p:txBody>
      </p:sp>
    </p:spTree>
    <p:extLst>
      <p:ext uri="{BB962C8B-B14F-4D97-AF65-F5344CB8AC3E}">
        <p14:creationId xmlns:p14="http://schemas.microsoft.com/office/powerpoint/2010/main" val="1665824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ATL-RAMS — Phase 4~6 + 리스크 대응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960000"/>
            <a:ext cx="3676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P4. 배포 패키징 (W4)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320000"/>
            <a:ext cx="367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MSI 인스톨러 빌드</a:t>
            </a:r>
          </a:p>
        </p:txBody>
      </p:sp>
      <p:sp>
        <p:nvSpPr>
          <p:cNvPr id="22" name="D22"/>
          <p:cNvSpPr/>
          <p:nvPr/>
        </p:nvSpPr>
        <p:spPr>
          <a:xfrm>
            <a:off x="751441" y="1620000"/>
            <a:ext cx="3676000" cy="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릴리즈 노트 작성</a:t>
            </a:r>
          </a:p>
        </p:txBody>
      </p:sp>
      <p:sp>
        <p:nvSpPr>
          <p:cNvPr id="23" name="D23"/>
          <p:cNvSpPr/>
          <p:nvPr/>
        </p:nvSpPr>
        <p:spPr>
          <a:xfrm>
            <a:off x="751441" y="1920000"/>
            <a:ext cx="367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배포 패키지 검증</a:t>
            </a:r>
          </a:p>
        </p:txBody>
      </p:sp>
      <p:sp>
        <p:nvSpPr>
          <p:cNvPr id="24" name="D24"/>
          <p:cNvSpPr/>
          <p:nvPr/>
        </p:nvSpPr>
        <p:spPr>
          <a:xfrm>
            <a:off x="751441" y="2300000"/>
            <a:ext cx="3676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배포 패키지 완성</a:t>
            </a:r>
          </a:p>
        </p:txBody>
      </p:sp>
      <p:sp>
        <p:nvSpPr>
          <p:cNvPr id="25" name="D25"/>
          <p:cNvSpPr/>
          <p:nvPr/>
        </p:nvSpPr>
        <p:spPr>
          <a:xfrm>
            <a:off x="4467441" y="960000"/>
            <a:ext cx="3676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P5. 최종 검증 (W5)</a:t>
            </a:r>
          </a:p>
        </p:txBody>
      </p:sp>
      <p:sp>
        <p:nvSpPr>
          <p:cNvPr id="26" name="D26"/>
          <p:cNvSpPr/>
          <p:nvPr/>
        </p:nvSpPr>
        <p:spPr>
          <a:xfrm>
            <a:off x="4467441" y="1320000"/>
            <a:ext cx="367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고객 환경 시뮬레이션</a:t>
            </a:r>
          </a:p>
        </p:txBody>
      </p:sp>
      <p:sp>
        <p:nvSpPr>
          <p:cNvPr id="27" name="D27"/>
          <p:cNvSpPr/>
          <p:nvPr/>
        </p:nvSpPr>
        <p:spPr>
          <a:xfrm>
            <a:off x="4467441" y="1620000"/>
            <a:ext cx="3676000" cy="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전체 기능 재검증</a:t>
            </a:r>
          </a:p>
        </p:txBody>
      </p:sp>
      <p:sp>
        <p:nvSpPr>
          <p:cNvPr id="28" name="D28"/>
          <p:cNvSpPr/>
          <p:nvPr/>
        </p:nvSpPr>
        <p:spPr>
          <a:xfrm>
            <a:off x="4467441" y="1920000"/>
            <a:ext cx="367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문서화 완료</a:t>
            </a:r>
          </a:p>
        </p:txBody>
      </p:sp>
      <p:sp>
        <p:nvSpPr>
          <p:cNvPr id="29" name="D29"/>
          <p:cNvSpPr/>
          <p:nvPr/>
        </p:nvSpPr>
        <p:spPr>
          <a:xfrm>
            <a:off x="4467441" y="2300000"/>
            <a:ext cx="3676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검증 리포트</a:t>
            </a:r>
          </a:p>
        </p:txBody>
      </p:sp>
      <p:sp>
        <p:nvSpPr>
          <p:cNvPr id="30" name="D30"/>
          <p:cNvSpPr/>
          <p:nvPr/>
        </p:nvSpPr>
        <p:spPr>
          <a:xfrm>
            <a:off x="8163441" y="960000"/>
            <a:ext cx="3696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P6. SOP/릴리즈 (W6)</a:t>
            </a:r>
          </a:p>
        </p:txBody>
      </p:sp>
      <p:sp>
        <p:nvSpPr>
          <p:cNvPr id="31" name="D31"/>
          <p:cNvSpPr/>
          <p:nvPr/>
        </p:nvSpPr>
        <p:spPr>
          <a:xfrm>
            <a:off x="8163441" y="1320000"/>
            <a:ext cx="369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SOP 문서 최종 승인</a:t>
            </a:r>
          </a:p>
        </p:txBody>
      </p:sp>
      <p:sp>
        <p:nvSpPr>
          <p:cNvPr id="32" name="D32"/>
          <p:cNvSpPr/>
          <p:nvPr/>
        </p:nvSpPr>
        <p:spPr>
          <a:xfrm>
            <a:off x="8163441" y="1620000"/>
            <a:ext cx="3696000" cy="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운영 배포 실행</a:t>
            </a:r>
          </a:p>
        </p:txBody>
      </p:sp>
      <p:sp>
        <p:nvSpPr>
          <p:cNvPr id="33" name="D33"/>
          <p:cNvSpPr/>
          <p:nvPr/>
        </p:nvSpPr>
        <p:spPr>
          <a:xfrm>
            <a:off x="8163441" y="1920000"/>
            <a:ext cx="3696000" cy="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인수인계 완료</a:t>
            </a:r>
          </a:p>
        </p:txBody>
      </p:sp>
      <p:sp>
        <p:nvSpPr>
          <p:cNvPr id="34" name="D34"/>
          <p:cNvSpPr/>
          <p:nvPr/>
        </p:nvSpPr>
        <p:spPr>
          <a:xfrm>
            <a:off x="8163441" y="2300000"/>
            <a:ext cx="3696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SOP 릴리즈 (05/22)</a:t>
            </a:r>
          </a:p>
        </p:txBody>
      </p:sp>
      <p:sp>
        <p:nvSpPr>
          <p:cNvPr id="35" name="D35"/>
          <p:cNvSpPr/>
          <p:nvPr/>
        </p:nvSpPr>
        <p:spPr>
          <a:xfrm>
            <a:off x="751441" y="2740000"/>
            <a:ext cx="11088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리스크</a:t>
            </a:r>
          </a:p>
        </p:txBody>
      </p:sp>
      <p:sp>
        <p:nvSpPr>
          <p:cNvPr id="36" name="D36"/>
          <p:cNvSpPr/>
          <p:nvPr/>
        </p:nvSpPr>
        <p:spPr>
          <a:xfrm>
            <a:off x="751441" y="3080000"/>
            <a:ext cx="800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ID</a:t>
            </a:r>
          </a:p>
        </p:txBody>
      </p:sp>
      <p:sp>
        <p:nvSpPr>
          <p:cNvPr id="37" name="D37"/>
          <p:cNvSpPr/>
          <p:nvPr/>
        </p:nvSpPr>
        <p:spPr>
          <a:xfrm>
            <a:off x="1551441" y="3080000"/>
            <a:ext cx="7800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설명</a:t>
            </a:r>
          </a:p>
        </p:txBody>
      </p:sp>
      <p:sp>
        <p:nvSpPr>
          <p:cNvPr id="38" name="D38"/>
          <p:cNvSpPr/>
          <p:nvPr/>
        </p:nvSpPr>
        <p:spPr>
          <a:xfrm>
            <a:off x="9351441" y="3080000"/>
            <a:ext cx="2488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영향도</a:t>
            </a:r>
          </a:p>
        </p:txBody>
      </p:sp>
      <p:sp>
        <p:nvSpPr>
          <p:cNvPr id="39" name="D39"/>
          <p:cNvSpPr/>
          <p:nvPr/>
        </p:nvSpPr>
        <p:spPr>
          <a:xfrm>
            <a:off x="751441" y="3320000"/>
            <a:ext cx="8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R1</a:t>
            </a:r>
          </a:p>
        </p:txBody>
      </p:sp>
      <p:sp>
        <p:nvSpPr>
          <p:cNvPr id="40" name="D40"/>
          <p:cNvSpPr/>
          <p:nvPr/>
        </p:nvSpPr>
        <p:spPr>
          <a:xfrm>
            <a:off x="1551441" y="332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시리얼 통신 불안정 (대량 데이터 전송 시)</a:t>
            </a:r>
          </a:p>
        </p:txBody>
      </p:sp>
      <p:sp>
        <p:nvSpPr>
          <p:cNvPr id="41" name="D41"/>
          <p:cNvSpPr/>
          <p:nvPr/>
        </p:nvSpPr>
        <p:spPr>
          <a:xfrm>
            <a:off x="9351441" y="3320000"/>
            <a:ext cx="2488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높음</a:t>
            </a:r>
          </a:p>
        </p:txBody>
      </p:sp>
      <p:sp>
        <p:nvSpPr>
          <p:cNvPr id="42" name="D42"/>
          <p:cNvSpPr/>
          <p:nvPr/>
        </p:nvSpPr>
        <p:spPr>
          <a:xfrm>
            <a:off x="751441" y="3560000"/>
            <a:ext cx="8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R2</a:t>
            </a:r>
          </a:p>
        </p:txBody>
      </p:sp>
      <p:sp>
        <p:nvSpPr>
          <p:cNvPr id="43" name="D43"/>
          <p:cNvSpPr/>
          <p:nvPr/>
        </p:nvSpPr>
        <p:spPr>
          <a:xfrm>
            <a:off x="1551441" y="356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MSI 패키징 호환성 이슈 (Win10/11)</a:t>
            </a:r>
          </a:p>
        </p:txBody>
      </p:sp>
      <p:sp>
        <p:nvSpPr>
          <p:cNvPr id="44" name="D44"/>
          <p:cNvSpPr/>
          <p:nvPr/>
        </p:nvSpPr>
        <p:spPr>
          <a:xfrm>
            <a:off x="9351441" y="3560000"/>
            <a:ext cx="2488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중간</a:t>
            </a:r>
          </a:p>
        </p:txBody>
      </p:sp>
      <p:sp>
        <p:nvSpPr>
          <p:cNvPr id="45" name="D45"/>
          <p:cNvSpPr/>
          <p:nvPr/>
        </p:nvSpPr>
        <p:spPr>
          <a:xfrm>
            <a:off x="751441" y="3800000"/>
            <a:ext cx="8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R3</a:t>
            </a:r>
          </a:p>
        </p:txBody>
      </p:sp>
      <p:sp>
        <p:nvSpPr>
          <p:cNvPr id="46" name="D46"/>
          <p:cNvSpPr/>
          <p:nvPr/>
        </p:nvSpPr>
        <p:spPr>
          <a:xfrm>
            <a:off x="1551441" y="380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대량 데이터 처리 시 성능 저하</a:t>
            </a:r>
          </a:p>
        </p:txBody>
      </p:sp>
      <p:sp>
        <p:nvSpPr>
          <p:cNvPr id="47" name="D47"/>
          <p:cNvSpPr/>
          <p:nvPr/>
        </p:nvSpPr>
        <p:spPr>
          <a:xfrm>
            <a:off x="9351441" y="3800000"/>
            <a:ext cx="2488000" cy="2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중간</a:t>
            </a:r>
          </a:p>
        </p:txBody>
      </p:sp>
    </p:spTree>
    <p:extLst>
      <p:ext uri="{BB962C8B-B14F-4D97-AF65-F5344CB8AC3E}">
        <p14:creationId xmlns:p14="http://schemas.microsoft.com/office/powerpoint/2010/main" val="1282799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소부장 R&amp;D 사업계획서 제출 WBS (마감: 2026-04-15 18:00)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960000"/>
            <a:ext cx="11088000" cy="279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현황 요약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29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참고자료 수집</a:t>
            </a:r>
          </a:p>
        </p:txBody>
      </p:sp>
      <p:sp>
        <p:nvSpPr>
          <p:cNvPr id="22" name="D22"/>
          <p:cNvSpPr/>
          <p:nvPr/>
        </p:nvSpPr>
        <p:spPr>
          <a:xfrm>
            <a:off x="2631441" y="129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23" name="D23"/>
          <p:cNvSpPr/>
          <p:nvPr/>
        </p:nvSpPr>
        <p:spPr>
          <a:xfrm>
            <a:off x="2631441" y="1299400"/>
            <a:ext cx="830580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24" name="D24"/>
          <p:cNvSpPr/>
          <p:nvPr/>
        </p:nvSpPr>
        <p:spPr>
          <a:xfrm>
            <a:off x="11039441" y="129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100%</a:t>
            </a:r>
          </a:p>
        </p:txBody>
      </p:sp>
      <p:sp>
        <p:nvSpPr>
          <p:cNvPr id="25" name="D25"/>
          <p:cNvSpPr/>
          <p:nvPr/>
        </p:nvSpPr>
        <p:spPr>
          <a:xfrm>
            <a:off x="751441" y="154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공고 분석</a:t>
            </a:r>
          </a:p>
        </p:txBody>
      </p:sp>
      <p:sp>
        <p:nvSpPr>
          <p:cNvPr id="26" name="D26"/>
          <p:cNvSpPr/>
          <p:nvPr/>
        </p:nvSpPr>
        <p:spPr>
          <a:xfrm>
            <a:off x="2631441" y="154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27" name="D27"/>
          <p:cNvSpPr/>
          <p:nvPr/>
        </p:nvSpPr>
        <p:spPr>
          <a:xfrm>
            <a:off x="2631441" y="1549400"/>
            <a:ext cx="830580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28" name="D28"/>
          <p:cNvSpPr/>
          <p:nvPr/>
        </p:nvSpPr>
        <p:spPr>
          <a:xfrm>
            <a:off x="11039441" y="154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100%</a:t>
            </a:r>
          </a:p>
        </p:txBody>
      </p:sp>
      <p:sp>
        <p:nvSpPr>
          <p:cNvPr id="29" name="D29"/>
          <p:cNvSpPr/>
          <p:nvPr/>
        </p:nvSpPr>
        <p:spPr>
          <a:xfrm>
            <a:off x="751441" y="179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SW원가 분석</a:t>
            </a:r>
          </a:p>
        </p:txBody>
      </p:sp>
      <p:sp>
        <p:nvSpPr>
          <p:cNvPr id="30" name="D30"/>
          <p:cNvSpPr/>
          <p:nvPr/>
        </p:nvSpPr>
        <p:spPr>
          <a:xfrm>
            <a:off x="2631441" y="179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31" name="D31"/>
          <p:cNvSpPr/>
          <p:nvPr/>
        </p:nvSpPr>
        <p:spPr>
          <a:xfrm>
            <a:off x="2631441" y="1799400"/>
            <a:ext cx="830580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32" name="D32"/>
          <p:cNvSpPr/>
          <p:nvPr/>
        </p:nvSpPr>
        <p:spPr>
          <a:xfrm>
            <a:off x="11039441" y="179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100%</a:t>
            </a:r>
          </a:p>
        </p:txBody>
      </p:sp>
      <p:sp>
        <p:nvSpPr>
          <p:cNvPr id="33" name="D33"/>
          <p:cNvSpPr/>
          <p:nvPr/>
        </p:nvSpPr>
        <p:spPr>
          <a:xfrm>
            <a:off x="751441" y="204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사업필요성 초안</a:t>
            </a:r>
          </a:p>
        </p:txBody>
      </p:sp>
      <p:sp>
        <p:nvSpPr>
          <p:cNvPr id="34" name="D34"/>
          <p:cNvSpPr/>
          <p:nvPr/>
        </p:nvSpPr>
        <p:spPr>
          <a:xfrm>
            <a:off x="2631441" y="204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35" name="D35"/>
          <p:cNvSpPr/>
          <p:nvPr/>
        </p:nvSpPr>
        <p:spPr>
          <a:xfrm>
            <a:off x="2631441" y="2049400"/>
            <a:ext cx="747522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36" name="D36"/>
          <p:cNvSpPr/>
          <p:nvPr/>
        </p:nvSpPr>
        <p:spPr>
          <a:xfrm>
            <a:off x="11039441" y="204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90%</a:t>
            </a:r>
          </a:p>
        </p:txBody>
      </p:sp>
      <p:sp>
        <p:nvSpPr>
          <p:cNvPr id="37" name="D37"/>
          <p:cNvSpPr/>
          <p:nvPr/>
        </p:nvSpPr>
        <p:spPr>
          <a:xfrm>
            <a:off x="751441" y="229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사업목표 초안</a:t>
            </a:r>
          </a:p>
        </p:txBody>
      </p:sp>
      <p:sp>
        <p:nvSpPr>
          <p:cNvPr id="38" name="D38"/>
          <p:cNvSpPr/>
          <p:nvPr/>
        </p:nvSpPr>
        <p:spPr>
          <a:xfrm>
            <a:off x="2631441" y="229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39" name="D39"/>
          <p:cNvSpPr/>
          <p:nvPr/>
        </p:nvSpPr>
        <p:spPr>
          <a:xfrm>
            <a:off x="2631441" y="2299400"/>
            <a:ext cx="664464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40" name="D40"/>
          <p:cNvSpPr/>
          <p:nvPr/>
        </p:nvSpPr>
        <p:spPr>
          <a:xfrm>
            <a:off x="11039441" y="229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80%</a:t>
            </a:r>
          </a:p>
        </p:txBody>
      </p:sp>
      <p:sp>
        <p:nvSpPr>
          <p:cNvPr id="41" name="D41"/>
          <p:cNvSpPr/>
          <p:nvPr/>
        </p:nvSpPr>
        <p:spPr>
          <a:xfrm>
            <a:off x="751441" y="254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선행연구이력 초안</a:t>
            </a:r>
          </a:p>
        </p:txBody>
      </p:sp>
      <p:sp>
        <p:nvSpPr>
          <p:cNvPr id="42" name="D42"/>
          <p:cNvSpPr/>
          <p:nvPr/>
        </p:nvSpPr>
        <p:spPr>
          <a:xfrm>
            <a:off x="2631441" y="254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43" name="D43"/>
          <p:cNvSpPr/>
          <p:nvPr/>
        </p:nvSpPr>
        <p:spPr>
          <a:xfrm>
            <a:off x="2631441" y="2549400"/>
            <a:ext cx="747522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44" name="D44"/>
          <p:cNvSpPr/>
          <p:nvPr/>
        </p:nvSpPr>
        <p:spPr>
          <a:xfrm>
            <a:off x="11039441" y="254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90%</a:t>
            </a:r>
          </a:p>
        </p:txBody>
      </p:sp>
      <p:sp>
        <p:nvSpPr>
          <p:cNvPr id="45" name="D45"/>
          <p:cNvSpPr/>
          <p:nvPr/>
        </p:nvSpPr>
        <p:spPr>
          <a:xfrm>
            <a:off x="751441" y="279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기술개발목표 초안</a:t>
            </a:r>
          </a:p>
        </p:txBody>
      </p:sp>
      <p:sp>
        <p:nvSpPr>
          <p:cNvPr id="46" name="D46"/>
          <p:cNvSpPr/>
          <p:nvPr/>
        </p:nvSpPr>
        <p:spPr>
          <a:xfrm>
            <a:off x="2631441" y="279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47" name="D47"/>
          <p:cNvSpPr/>
          <p:nvPr/>
        </p:nvSpPr>
        <p:spPr>
          <a:xfrm>
            <a:off x="2631441" y="2799400"/>
            <a:ext cx="4983480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48" name="D48"/>
          <p:cNvSpPr/>
          <p:nvPr/>
        </p:nvSpPr>
        <p:spPr>
          <a:xfrm>
            <a:off x="11039441" y="279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60%</a:t>
            </a:r>
          </a:p>
        </p:txBody>
      </p:sp>
      <p:sp>
        <p:nvSpPr>
          <p:cNvPr id="49" name="D49"/>
          <p:cNvSpPr/>
          <p:nvPr/>
        </p:nvSpPr>
        <p:spPr>
          <a:xfrm>
            <a:off x="751441" y="304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HWP 본문1</a:t>
            </a:r>
          </a:p>
        </p:txBody>
      </p:sp>
      <p:sp>
        <p:nvSpPr>
          <p:cNvPr id="50" name="D50"/>
          <p:cNvSpPr/>
          <p:nvPr/>
        </p:nvSpPr>
        <p:spPr>
          <a:xfrm>
            <a:off x="2631441" y="3049400"/>
            <a:ext cx="8307999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51" name="D51"/>
          <p:cNvSpPr/>
          <p:nvPr/>
        </p:nvSpPr>
        <p:spPr>
          <a:xfrm flipH="1">
            <a:off x="2631441" y="3049400"/>
            <a:ext cx="2102483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52" name="D52"/>
          <p:cNvSpPr/>
          <p:nvPr/>
        </p:nvSpPr>
        <p:spPr>
          <a:xfrm>
            <a:off x="11039441" y="304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altLang="ko-KR" sz="1000" b="1" dirty="0">
                <a:solidFill>
                  <a:srgbClr val="333333"/>
                </a:solidFill>
                <a:latin typeface="+mn-ea"/>
              </a:rPr>
              <a:t>25</a:t>
            </a:r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%</a:t>
            </a:r>
          </a:p>
        </p:txBody>
      </p:sp>
      <p:sp>
        <p:nvSpPr>
          <p:cNvPr id="53" name="D53"/>
          <p:cNvSpPr/>
          <p:nvPr/>
        </p:nvSpPr>
        <p:spPr>
          <a:xfrm>
            <a:off x="751441" y="329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첨부서류 5종</a:t>
            </a:r>
          </a:p>
        </p:txBody>
      </p:sp>
      <p:sp>
        <p:nvSpPr>
          <p:cNvPr id="54" name="D54"/>
          <p:cNvSpPr/>
          <p:nvPr/>
        </p:nvSpPr>
        <p:spPr>
          <a:xfrm>
            <a:off x="2631441" y="329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55" name="D55"/>
          <p:cNvSpPr/>
          <p:nvPr/>
        </p:nvSpPr>
        <p:spPr>
          <a:xfrm>
            <a:off x="2631441" y="3299400"/>
            <a:ext cx="1" cy="23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56" name="D56"/>
          <p:cNvSpPr/>
          <p:nvPr/>
        </p:nvSpPr>
        <p:spPr>
          <a:xfrm>
            <a:off x="11039441" y="329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0%</a:t>
            </a:r>
          </a:p>
        </p:txBody>
      </p:sp>
      <p:sp>
        <p:nvSpPr>
          <p:cNvPr id="57" name="D57"/>
          <p:cNvSpPr/>
          <p:nvPr/>
        </p:nvSpPr>
        <p:spPr>
          <a:xfrm>
            <a:off x="751441" y="3549400"/>
            <a:ext cx="1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r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IRIS 등록/입력</a:t>
            </a:r>
          </a:p>
        </p:txBody>
      </p:sp>
      <p:sp>
        <p:nvSpPr>
          <p:cNvPr id="58" name="D58"/>
          <p:cNvSpPr/>
          <p:nvPr/>
        </p:nvSpPr>
        <p:spPr>
          <a:xfrm>
            <a:off x="2631441" y="3549400"/>
            <a:ext cx="8308000" cy="23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endParaRPr/>
          </a:p>
        </p:txBody>
      </p:sp>
      <p:sp>
        <p:nvSpPr>
          <p:cNvPr id="59" name="D59"/>
          <p:cNvSpPr/>
          <p:nvPr/>
        </p:nvSpPr>
        <p:spPr>
          <a:xfrm>
            <a:off x="11039441" y="3549400"/>
            <a:ext cx="8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b="1" dirty="0">
                <a:solidFill>
                  <a:srgbClr val="333333"/>
                </a:solidFill>
                <a:latin typeface="+mn-ea"/>
                <a:ea typeface="+mn-ea"/>
              </a:rPr>
              <a:t>0%</a:t>
            </a:r>
          </a:p>
        </p:txBody>
      </p:sp>
      <p:sp>
        <p:nvSpPr>
          <p:cNvPr id="71" name="D71"/>
          <p:cNvSpPr/>
          <p:nvPr/>
        </p:nvSpPr>
        <p:spPr>
          <a:xfrm>
            <a:off x="751441" y="4078601"/>
            <a:ext cx="11088000" cy="279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핵심 마일스톤</a:t>
            </a:r>
          </a:p>
        </p:txBody>
      </p:sp>
      <p:sp>
        <p:nvSpPr>
          <p:cNvPr id="72" name="D72"/>
          <p:cNvSpPr/>
          <p:nvPr/>
        </p:nvSpPr>
        <p:spPr>
          <a:xfrm>
            <a:off x="751441" y="4418001"/>
            <a:ext cx="2752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4/13 23:00
Phase 0 완료</a:t>
            </a:r>
          </a:p>
        </p:txBody>
      </p:sp>
      <p:sp>
        <p:nvSpPr>
          <p:cNvPr id="73" name="D73"/>
          <p:cNvSpPr/>
          <p:nvPr/>
        </p:nvSpPr>
        <p:spPr>
          <a:xfrm>
            <a:off x="3523441" y="4418001"/>
            <a:ext cx="2752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4/14 13:00
Phase 1 완료</a:t>
            </a:r>
          </a:p>
        </p:txBody>
      </p:sp>
      <p:sp>
        <p:nvSpPr>
          <p:cNvPr id="74" name="D74"/>
          <p:cNvSpPr/>
          <p:nvPr/>
        </p:nvSpPr>
        <p:spPr>
          <a:xfrm>
            <a:off x="6295441" y="4418001"/>
            <a:ext cx="2752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4/14 18:00
Phase 2-1 완료</a:t>
            </a:r>
          </a:p>
        </p:txBody>
      </p:sp>
      <p:sp>
        <p:nvSpPr>
          <p:cNvPr id="75" name="D75"/>
          <p:cNvSpPr/>
          <p:nvPr/>
        </p:nvSpPr>
        <p:spPr>
          <a:xfrm>
            <a:off x="9067441" y="4418001"/>
            <a:ext cx="2752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4/15 16:00
목표 제출</a:t>
            </a:r>
          </a:p>
        </p:txBody>
      </p:sp>
    </p:spTree>
    <p:extLst>
      <p:ext uri="{BB962C8B-B14F-4D97-AF65-F5344CB8AC3E}">
        <p14:creationId xmlns:p14="http://schemas.microsoft.com/office/powerpoint/2010/main" val="3522966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소부장 R&amp;D — Phase 0~1 상세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1050000"/>
            <a:ext cx="11088000" cy="32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Phase 0. 사전 점검 (4/13 저녁) — 1h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430000"/>
            <a:ext cx="3642666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#</a:t>
            </a:r>
          </a:p>
        </p:txBody>
      </p:sp>
      <p:sp>
        <p:nvSpPr>
          <p:cNvPr id="22" name="D22"/>
          <p:cNvSpPr/>
          <p:nvPr/>
        </p:nvSpPr>
        <p:spPr>
          <a:xfrm>
            <a:off x="751441" y="171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0.1</a:t>
            </a:r>
          </a:p>
        </p:txBody>
      </p:sp>
      <p:sp>
        <p:nvSpPr>
          <p:cNvPr id="23" name="D23"/>
          <p:cNvSpPr/>
          <p:nvPr/>
        </p:nvSpPr>
        <p:spPr>
          <a:xfrm>
            <a:off x="751441" y="202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0.2</a:t>
            </a:r>
          </a:p>
        </p:txBody>
      </p:sp>
      <p:sp>
        <p:nvSpPr>
          <p:cNvPr id="24" name="D24"/>
          <p:cNvSpPr/>
          <p:nvPr/>
        </p:nvSpPr>
        <p:spPr>
          <a:xfrm>
            <a:off x="751441" y="233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0.3</a:t>
            </a:r>
          </a:p>
        </p:txBody>
      </p:sp>
      <p:sp>
        <p:nvSpPr>
          <p:cNvPr id="25" name="D25"/>
          <p:cNvSpPr/>
          <p:nvPr/>
        </p:nvSpPr>
        <p:spPr>
          <a:xfrm>
            <a:off x="4474107" y="1430000"/>
            <a:ext cx="3642666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작업</a:t>
            </a:r>
          </a:p>
        </p:txBody>
      </p:sp>
      <p:sp>
        <p:nvSpPr>
          <p:cNvPr id="26" name="D26"/>
          <p:cNvSpPr/>
          <p:nvPr/>
        </p:nvSpPr>
        <p:spPr>
          <a:xfrm>
            <a:off x="4474107" y="171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IRIS 로그인 및 등록 상태 확인</a:t>
            </a:r>
          </a:p>
        </p:txBody>
      </p:sp>
      <p:sp>
        <p:nvSpPr>
          <p:cNvPr id="27" name="D27"/>
          <p:cNvSpPr/>
          <p:nvPr/>
        </p:nvSpPr>
        <p:spPr>
          <a:xfrm>
            <a:off x="4474107" y="202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기관 등록 상태 확인</a:t>
            </a:r>
          </a:p>
        </p:txBody>
      </p:sp>
      <p:sp>
        <p:nvSpPr>
          <p:cNvPr id="28" name="D28"/>
          <p:cNvSpPr/>
          <p:nvPr/>
        </p:nvSpPr>
        <p:spPr>
          <a:xfrm>
            <a:off x="4474107" y="233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[붙임3] ZIP 해제 및 HWP 양식 확인</a:t>
            </a:r>
          </a:p>
        </p:txBody>
      </p:sp>
      <p:sp>
        <p:nvSpPr>
          <p:cNvPr id="29" name="D29"/>
          <p:cNvSpPr/>
          <p:nvPr/>
        </p:nvSpPr>
        <p:spPr>
          <a:xfrm>
            <a:off x="8196773" y="1430000"/>
            <a:ext cx="3642666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산출물/상세</a:t>
            </a:r>
          </a:p>
        </p:txBody>
      </p:sp>
      <p:sp>
        <p:nvSpPr>
          <p:cNvPr id="30" name="D30"/>
          <p:cNvSpPr/>
          <p:nvPr/>
        </p:nvSpPr>
        <p:spPr>
          <a:xfrm>
            <a:off x="8196773" y="171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연구자 IRIS 가입, NRI 전환, 연구자번호 발급 여부 — 0.3h</a:t>
            </a:r>
          </a:p>
        </p:txBody>
      </p:sp>
      <p:sp>
        <p:nvSpPr>
          <p:cNvPr id="31" name="D31"/>
          <p:cNvSpPr/>
          <p:nvPr/>
        </p:nvSpPr>
        <p:spPr>
          <a:xfrm>
            <a:off x="8196773" y="202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기관등록, 기관총괄담당자, 기관대표자 등록 여부 — 0.3h</a:t>
            </a:r>
          </a:p>
        </p:txBody>
      </p:sp>
      <p:sp>
        <p:nvSpPr>
          <p:cNvPr id="32" name="D32"/>
          <p:cNvSpPr/>
          <p:nvPr/>
        </p:nvSpPr>
        <p:spPr>
          <a:xfrm>
            <a:off x="8196773" y="233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HWP 양식 5종 파일 열기, 섹션 구조 파악 — 0.4h</a:t>
            </a:r>
          </a:p>
        </p:txBody>
      </p:sp>
      <p:sp>
        <p:nvSpPr>
          <p:cNvPr id="33" name="D33"/>
          <p:cNvSpPr/>
          <p:nvPr/>
        </p:nvSpPr>
        <p:spPr>
          <a:xfrm>
            <a:off x="751441" y="2760000"/>
            <a:ext cx="11088000" cy="32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Phase 1. IRIS 사전등록 + 기술 스펙 확정 (4/14 AM) — 4h</a:t>
            </a:r>
          </a:p>
        </p:txBody>
      </p:sp>
      <p:sp>
        <p:nvSpPr>
          <p:cNvPr id="34" name="D34"/>
          <p:cNvSpPr/>
          <p:nvPr/>
        </p:nvSpPr>
        <p:spPr>
          <a:xfrm>
            <a:off x="751441" y="3140000"/>
            <a:ext cx="5504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#</a:t>
            </a:r>
          </a:p>
        </p:txBody>
      </p:sp>
      <p:sp>
        <p:nvSpPr>
          <p:cNvPr id="35" name="D35"/>
          <p:cNvSpPr/>
          <p:nvPr/>
        </p:nvSpPr>
        <p:spPr>
          <a:xfrm>
            <a:off x="751441" y="342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1.1 IRIS 사전등록 해결 (미완료 시)</a:t>
            </a:r>
          </a:p>
        </p:txBody>
      </p:sp>
      <p:sp>
        <p:nvSpPr>
          <p:cNvPr id="36" name="D36"/>
          <p:cNvSpPr/>
          <p:nvPr/>
        </p:nvSpPr>
        <p:spPr>
          <a:xfrm>
            <a:off x="751441" y="373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1.2 [__] 플레이스홀더 기술 스펙 확정</a:t>
            </a:r>
          </a:p>
        </p:txBody>
      </p:sp>
      <p:sp>
        <p:nvSpPr>
          <p:cNvPr id="37" name="D37"/>
          <p:cNvSpPr/>
          <p:nvPr/>
        </p:nvSpPr>
        <p:spPr>
          <a:xfrm>
            <a:off x="751441" y="404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1.3 정량적 성과목표 표 완성</a:t>
            </a:r>
          </a:p>
        </p:txBody>
      </p:sp>
      <p:sp>
        <p:nvSpPr>
          <p:cNvPr id="38" name="D38"/>
          <p:cNvSpPr/>
          <p:nvPr/>
        </p:nvSpPr>
        <p:spPr>
          <a:xfrm>
            <a:off x="751441" y="435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1.4 연구개발비 예산 편성 확정</a:t>
            </a:r>
          </a:p>
        </p:txBody>
      </p:sp>
      <p:sp>
        <p:nvSpPr>
          <p:cNvPr id="39" name="D39"/>
          <p:cNvSpPr/>
          <p:nvPr/>
        </p:nvSpPr>
        <p:spPr>
          <a:xfrm>
            <a:off x="751441" y="466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게이트 1</a:t>
            </a:r>
          </a:p>
        </p:txBody>
      </p:sp>
      <p:sp>
        <p:nvSpPr>
          <p:cNvPr id="40" name="D40"/>
          <p:cNvSpPr/>
          <p:nvPr/>
        </p:nvSpPr>
        <p:spPr>
          <a:xfrm>
            <a:off x="6335441" y="3140000"/>
            <a:ext cx="5504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산출물/상세</a:t>
            </a:r>
          </a:p>
        </p:txBody>
      </p:sp>
      <p:sp>
        <p:nvSpPr>
          <p:cNvPr id="41" name="D41"/>
          <p:cNvSpPr/>
          <p:nvPr/>
        </p:nvSpPr>
        <p:spPr>
          <a:xfrm>
            <a:off x="6335441" y="342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연구자 NRI 전환, 기관대표자 등록, 참여연구자 등록 — 1.5h</a:t>
            </a:r>
          </a:p>
        </p:txBody>
      </p:sp>
      <p:sp>
        <p:nvSpPr>
          <p:cNvPr id="42" name="D42"/>
          <p:cNvSpPr/>
          <p:nvPr/>
        </p:nvSpPr>
        <p:spPr>
          <a:xfrm>
            <a:off x="6335441" y="373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채널수, 전압범위, 전류분해능, 온도범위 등 30+개소 — 1.5h</a:t>
            </a:r>
          </a:p>
        </p:txBody>
      </p:sp>
      <p:sp>
        <p:nvSpPr>
          <p:cNvPr id="43" name="D43"/>
          <p:cNvSpPr/>
          <p:nvPr/>
        </p:nvSpPr>
        <p:spPr>
          <a:xfrm>
            <a:off x="6335441" y="404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기술개발목표(10) 최하단 성과지표 표 수치 확정 — 0.5h</a:t>
            </a:r>
          </a:p>
        </p:txBody>
      </p:sp>
      <p:sp>
        <p:nvSpPr>
          <p:cNvPr id="44" name="D44"/>
          <p:cNvSpPr/>
          <p:nvPr/>
        </p:nvSpPr>
        <p:spPr>
          <a:xfrm>
            <a:off x="6335441" y="435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2년 5억 기준 비목별(인건비, 재료비, 활동비 등) 배분 — 0.5h</a:t>
            </a:r>
          </a:p>
        </p:txBody>
      </p:sp>
      <p:sp>
        <p:nvSpPr>
          <p:cNvPr id="45" name="D45"/>
          <p:cNvSpPr/>
          <p:nvPr/>
        </p:nvSpPr>
        <p:spPr>
          <a:xfrm>
            <a:off x="6335441" y="466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기술 스펙 전수 확정 + IRIS 로그인 가능 상태</a:t>
            </a:r>
          </a:p>
        </p:txBody>
      </p:sp>
    </p:spTree>
    <p:extLst>
      <p:ext uri="{BB962C8B-B14F-4D97-AF65-F5344CB8AC3E}">
        <p14:creationId xmlns:p14="http://schemas.microsoft.com/office/powerpoint/2010/main" val="2036206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소부장 R&amp;D — Phase 2 상세 (HWP 본문1 작성)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1050000"/>
            <a:ext cx="11088000" cy="32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Phase 2-1. 핵심 섹션 HWP 이관 (4/14 PM) — 4h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430000"/>
            <a:ext cx="3642666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#</a:t>
            </a:r>
          </a:p>
        </p:txBody>
      </p:sp>
      <p:sp>
        <p:nvSpPr>
          <p:cNvPr id="22" name="D22"/>
          <p:cNvSpPr/>
          <p:nvPr/>
        </p:nvSpPr>
        <p:spPr>
          <a:xfrm>
            <a:off x="751441" y="171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2.1.1</a:t>
            </a:r>
          </a:p>
        </p:txBody>
      </p:sp>
      <p:sp>
        <p:nvSpPr>
          <p:cNvPr id="23" name="D23"/>
          <p:cNvSpPr/>
          <p:nvPr/>
        </p:nvSpPr>
        <p:spPr>
          <a:xfrm>
            <a:off x="751441" y="202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2.1.2</a:t>
            </a:r>
          </a:p>
        </p:txBody>
      </p:sp>
      <p:sp>
        <p:nvSpPr>
          <p:cNvPr id="24" name="D24"/>
          <p:cNvSpPr/>
          <p:nvPr/>
        </p:nvSpPr>
        <p:spPr>
          <a:xfrm>
            <a:off x="751441" y="233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2.1.3~5</a:t>
            </a:r>
          </a:p>
        </p:txBody>
      </p:sp>
      <p:sp>
        <p:nvSpPr>
          <p:cNvPr id="25" name="D25"/>
          <p:cNvSpPr/>
          <p:nvPr/>
        </p:nvSpPr>
        <p:spPr>
          <a:xfrm>
            <a:off x="4474107" y="1430000"/>
            <a:ext cx="3642666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작업</a:t>
            </a:r>
          </a:p>
        </p:txBody>
      </p:sp>
      <p:sp>
        <p:nvSpPr>
          <p:cNvPr id="26" name="D26"/>
          <p:cNvSpPr/>
          <p:nvPr/>
        </p:nvSpPr>
        <p:spPr>
          <a:xfrm>
            <a:off x="4474107" y="171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사업필요성 및 추진배경 HWP 이관</a:t>
            </a:r>
          </a:p>
        </p:txBody>
      </p:sp>
      <p:sp>
        <p:nvSpPr>
          <p:cNvPr id="27" name="D27"/>
          <p:cNvSpPr/>
          <p:nvPr/>
        </p:nvSpPr>
        <p:spPr>
          <a:xfrm>
            <a:off x="4474107" y="202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사업목표 HWP 이관</a:t>
            </a:r>
          </a:p>
        </p:txBody>
      </p:sp>
      <p:sp>
        <p:nvSpPr>
          <p:cNvPr id="28" name="D28"/>
          <p:cNvSpPr/>
          <p:nvPr/>
        </p:nvSpPr>
        <p:spPr>
          <a:xfrm>
            <a:off x="4474107" y="233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기술개발목표+선행연구+추진체계 이관</a:t>
            </a:r>
          </a:p>
        </p:txBody>
      </p:sp>
      <p:sp>
        <p:nvSpPr>
          <p:cNvPr id="29" name="D29"/>
          <p:cNvSpPr/>
          <p:nvPr/>
        </p:nvSpPr>
        <p:spPr>
          <a:xfrm>
            <a:off x="8196773" y="1430000"/>
            <a:ext cx="3642666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산출물/상세</a:t>
            </a:r>
          </a:p>
        </p:txBody>
      </p:sp>
      <p:sp>
        <p:nvSpPr>
          <p:cNvPr id="30" name="D30"/>
          <p:cNvSpPr/>
          <p:nvPr/>
        </p:nvSpPr>
        <p:spPr>
          <a:xfrm>
            <a:off x="8196773" y="171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초안(11) → HWP 양식 복사+편집, 분량 조절 — 0.7h</a:t>
            </a:r>
          </a:p>
        </p:txBody>
      </p:sp>
      <p:sp>
        <p:nvSpPr>
          <p:cNvPr id="31" name="D31"/>
          <p:cNvSpPr/>
          <p:nvPr/>
        </p:nvSpPr>
        <p:spPr>
          <a:xfrm>
            <a:off x="8196773" y="202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초안(12) → HWP 양식, 정량 지표 추가 보완 — 0.5h</a:t>
            </a:r>
          </a:p>
        </p:txBody>
      </p:sp>
      <p:sp>
        <p:nvSpPr>
          <p:cNvPr id="32" name="D32"/>
          <p:cNvSpPr/>
          <p:nvPr/>
        </p:nvSpPr>
        <p:spPr>
          <a:xfrm>
            <a:off x="8196773" y="2330000"/>
            <a:ext cx="3642666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HWP 양식, 확정 스펙 반영, 조직도/Gantt — 2.8h</a:t>
            </a:r>
          </a:p>
        </p:txBody>
      </p:sp>
      <p:sp>
        <p:nvSpPr>
          <p:cNvPr id="33" name="D33"/>
          <p:cNvSpPr/>
          <p:nvPr/>
        </p:nvSpPr>
        <p:spPr>
          <a:xfrm>
            <a:off x="751441" y="2760000"/>
            <a:ext cx="11088000" cy="32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Phase 2-2. 추가 섹션 작성 (4/14 야간) — 4~6h</a:t>
            </a:r>
          </a:p>
        </p:txBody>
      </p:sp>
      <p:sp>
        <p:nvSpPr>
          <p:cNvPr id="34" name="D34"/>
          <p:cNvSpPr/>
          <p:nvPr/>
        </p:nvSpPr>
        <p:spPr>
          <a:xfrm>
            <a:off x="751441" y="3140000"/>
            <a:ext cx="5504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#/작업</a:t>
            </a:r>
          </a:p>
        </p:txBody>
      </p:sp>
      <p:sp>
        <p:nvSpPr>
          <p:cNvPr id="35" name="D35"/>
          <p:cNvSpPr/>
          <p:nvPr/>
        </p:nvSpPr>
        <p:spPr>
          <a:xfrm>
            <a:off x="751441" y="342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2.2.1 연구개발비 사용계획 작성</a:t>
            </a:r>
          </a:p>
        </p:txBody>
      </p:sp>
      <p:sp>
        <p:nvSpPr>
          <p:cNvPr id="36" name="D36"/>
          <p:cNvSpPr/>
          <p:nvPr/>
        </p:nvSpPr>
        <p:spPr>
          <a:xfrm>
            <a:off x="751441" y="373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2.2.2 기대효과 작성</a:t>
            </a:r>
          </a:p>
        </p:txBody>
      </p:sp>
      <p:sp>
        <p:nvSpPr>
          <p:cNvPr id="37" name="D37"/>
          <p:cNvSpPr/>
          <p:nvPr/>
        </p:nvSpPr>
        <p:spPr>
          <a:xfrm>
            <a:off x="751441" y="404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2.2.3~4 기업현황+사업화 계획</a:t>
            </a:r>
          </a:p>
        </p:txBody>
      </p:sp>
      <p:sp>
        <p:nvSpPr>
          <p:cNvPr id="38" name="D38"/>
          <p:cNvSpPr/>
          <p:nvPr/>
        </p:nvSpPr>
        <p:spPr>
          <a:xfrm>
            <a:off x="751441" y="435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2.2.5 서식 정리 + 1차 통독 검수</a:t>
            </a:r>
          </a:p>
        </p:txBody>
      </p:sp>
      <p:sp>
        <p:nvSpPr>
          <p:cNvPr id="39" name="D39"/>
          <p:cNvSpPr/>
          <p:nvPr/>
        </p:nvSpPr>
        <p:spPr>
          <a:xfrm>
            <a:off x="6335441" y="3140000"/>
            <a:ext cx="5504000" cy="28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산출물/상세</a:t>
            </a:r>
          </a:p>
        </p:txBody>
      </p:sp>
      <p:sp>
        <p:nvSpPr>
          <p:cNvPr id="40" name="D40"/>
          <p:cNvSpPr/>
          <p:nvPr/>
        </p:nvSpPr>
        <p:spPr>
          <a:xfrm>
            <a:off x="6335441" y="342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비목별 산출근거, 연차별 배분표 — 1.5h</a:t>
            </a:r>
          </a:p>
        </p:txBody>
      </p:sp>
      <p:sp>
        <p:nvSpPr>
          <p:cNvPr id="41" name="D41"/>
          <p:cNvSpPr/>
          <p:nvPr/>
        </p:nvSpPr>
        <p:spPr>
          <a:xfrm>
            <a:off x="6335441" y="373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기술적/경제적/사회적 기대효과 — 1.0h</a:t>
            </a:r>
          </a:p>
        </p:txBody>
      </p:sp>
      <p:sp>
        <p:nvSpPr>
          <p:cNvPr id="42" name="D42"/>
          <p:cNvSpPr/>
          <p:nvPr/>
        </p:nvSpPr>
        <p:spPr>
          <a:xfrm>
            <a:off x="6335441" y="404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매출, 인력, 설비, 목표시장, 경쟁분석 — 1.5h</a:t>
            </a:r>
          </a:p>
        </p:txBody>
      </p:sp>
      <p:sp>
        <p:nvSpPr>
          <p:cNvPr id="43" name="D43"/>
          <p:cNvSpPr/>
          <p:nvPr/>
        </p:nvSpPr>
        <p:spPr>
          <a:xfrm>
            <a:off x="6335441" y="4350000"/>
            <a:ext cx="5504000" cy="2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18p 이내 분량 조절, 오탈자, 수치 정합성 — 2.0h</a:t>
            </a:r>
          </a:p>
        </p:txBody>
      </p:sp>
    </p:spTree>
    <p:extLst>
      <p:ext uri="{BB962C8B-B14F-4D97-AF65-F5344CB8AC3E}">
        <p14:creationId xmlns:p14="http://schemas.microsoft.com/office/powerpoint/2010/main" val="644845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EA89-57D0-EAB9-322D-67DF4695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076F92-BBB5-76F0-7341-625DF23682CB}"/>
              </a:ext>
            </a:extLst>
          </p:cNvPr>
          <p:cNvSpPr/>
          <p:nvPr/>
        </p:nvSpPr>
        <p:spPr>
          <a:xfrm>
            <a:off x="530458" y="76547"/>
            <a:ext cx="1420807" cy="4046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1475"/>
            <a:r>
              <a:rPr lang="ko-KR" altLang="en-US" sz="1300" dirty="0">
                <a:ln w="0"/>
                <a:solidFill>
                  <a:prstClr val="white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연구개발팀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98BC6-34EC-DDCF-0696-ECCB90495A4A}"/>
              </a:ext>
            </a:extLst>
          </p:cNvPr>
          <p:cNvSpPr txBox="1"/>
          <p:nvPr/>
        </p:nvSpPr>
        <p:spPr>
          <a:xfrm>
            <a:off x="2014025" y="45045"/>
            <a:ext cx="2025892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71475" fontAlgn="ctr"/>
            <a:r>
              <a:rPr lang="ko-KR" altLang="en-US" sz="813" dirty="0">
                <a:solidFill>
                  <a:srgbClr val="FF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</a:t>
            </a:r>
            <a:endParaRPr lang="en-US" altLang="ko-KR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  <a:p>
            <a:pPr defTabSz="371475" fontAlgn="ctr"/>
            <a:r>
              <a:rPr lang="ko-KR" altLang="en-US" sz="813" dirty="0">
                <a:solidFill>
                  <a:srgbClr val="FFFF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긴급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안중</a:t>
            </a:r>
          </a:p>
          <a:p>
            <a:pPr defTabSz="371475" fontAlgn="ctr"/>
            <a:r>
              <a:rPr lang="ko-KR" altLang="en-US" sz="813" dirty="0">
                <a:solidFill>
                  <a:srgbClr val="00B05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●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: </a:t>
            </a:r>
            <a:r>
              <a:rPr lang="ko-KR" altLang="en-US" sz="813" dirty="0" err="1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안급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/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중요 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참고</a:t>
            </a:r>
            <a:r>
              <a:rPr lang="en-US" altLang="ko-KR" sz="813" dirty="0">
                <a:solidFill>
                  <a:srgbClr val="00000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813" dirty="0">
              <a:solidFill>
                <a:srgbClr val="00000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2C70-639B-45E2-A9A1-85DB61FABB43}"/>
              </a:ext>
            </a:extLst>
          </p:cNvPr>
          <p:cNvSpPr txBox="1"/>
          <p:nvPr/>
        </p:nvSpPr>
        <p:spPr>
          <a:xfrm>
            <a:off x="439129" y="626175"/>
            <a:ext cx="698084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▶ 소부장 R&amp;D — Phase 3~4 + 리스크</a:t>
            </a:r>
          </a:p>
        </p:txBody>
      </p:sp>
      <p:sp>
        <p:nvSpPr>
          <p:cNvPr id="20" name="D20"/>
          <p:cNvSpPr/>
          <p:nvPr/>
        </p:nvSpPr>
        <p:spPr>
          <a:xfrm>
            <a:off x="751441" y="1050000"/>
            <a:ext cx="11088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Phase 3. 첨부서류 + IRIS 온라인 입력 (4/15 AM) — 4h</a:t>
            </a:r>
          </a:p>
        </p:txBody>
      </p:sp>
      <p:sp>
        <p:nvSpPr>
          <p:cNvPr id="21" name="D21"/>
          <p:cNvSpPr/>
          <p:nvPr/>
        </p:nvSpPr>
        <p:spPr>
          <a:xfrm>
            <a:off x="751441" y="1400000"/>
            <a:ext cx="5504000" cy="26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#작업</a:t>
            </a:r>
          </a:p>
        </p:txBody>
      </p:sp>
      <p:sp>
        <p:nvSpPr>
          <p:cNvPr id="22" name="D22"/>
          <p:cNvSpPr/>
          <p:nvPr/>
        </p:nvSpPr>
        <p:spPr>
          <a:xfrm>
            <a:off x="751441" y="1660000"/>
            <a:ext cx="5504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3.1.1~3 확인서 3종 작성</a:t>
            </a:r>
          </a:p>
        </p:txBody>
      </p:sp>
      <p:sp>
        <p:nvSpPr>
          <p:cNvPr id="23" name="D23"/>
          <p:cNvSpPr/>
          <p:nvPr/>
        </p:nvSpPr>
        <p:spPr>
          <a:xfrm>
            <a:off x="751441" y="1945000"/>
            <a:ext cx="5504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3.1.4~5 동의서 2종 + PDF 스캔</a:t>
            </a:r>
          </a:p>
        </p:txBody>
      </p:sp>
      <p:sp>
        <p:nvSpPr>
          <p:cNvPr id="24" name="D24"/>
          <p:cNvSpPr/>
          <p:nvPr/>
        </p:nvSpPr>
        <p:spPr>
          <a:xfrm>
            <a:off x="751441" y="2230000"/>
            <a:ext cx="5504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3.2.1~3 IRIS 과제/연구자/연구개발비 입력</a:t>
            </a:r>
          </a:p>
        </p:txBody>
      </p:sp>
      <p:sp>
        <p:nvSpPr>
          <p:cNvPr id="25" name="D25"/>
          <p:cNvSpPr/>
          <p:nvPr/>
        </p:nvSpPr>
        <p:spPr>
          <a:xfrm>
            <a:off x="751441" y="2515000"/>
            <a:ext cx="5504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3.2.4~5 개발목표 + 기타 항목 입력</a:t>
            </a:r>
          </a:p>
        </p:txBody>
      </p:sp>
      <p:sp>
        <p:nvSpPr>
          <p:cNvPr id="26" name="D26"/>
          <p:cNvSpPr/>
          <p:nvPr/>
        </p:nvSpPr>
        <p:spPr>
          <a:xfrm>
            <a:off x="6335441" y="1400000"/>
            <a:ext cx="5504000" cy="26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산출물/상세</a:t>
            </a:r>
          </a:p>
        </p:txBody>
      </p:sp>
      <p:sp>
        <p:nvSpPr>
          <p:cNvPr id="27" name="D27"/>
          <p:cNvSpPr/>
          <p:nvPr/>
        </p:nvSpPr>
        <p:spPr>
          <a:xfrm>
            <a:off x="6335441" y="1660000"/>
            <a:ext cx="5504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[붙임1] R&amp;D 내역, [붙임3] 보안점검, [별첨] 지역특화 — 1.1h</a:t>
            </a:r>
          </a:p>
        </p:txBody>
      </p:sp>
      <p:sp>
        <p:nvSpPr>
          <p:cNvPr id="28" name="D28"/>
          <p:cNvSpPr/>
          <p:nvPr/>
        </p:nvSpPr>
        <p:spPr>
          <a:xfrm>
            <a:off x="6335441" y="1945000"/>
            <a:ext cx="5504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신용상태/개인정보 동의서 서명날인 → PDF 변환 — 0.9h</a:t>
            </a:r>
          </a:p>
        </p:txBody>
      </p:sp>
      <p:sp>
        <p:nvSpPr>
          <p:cNvPr id="29" name="D29"/>
          <p:cNvSpPr/>
          <p:nvPr/>
        </p:nvSpPr>
        <p:spPr>
          <a:xfrm>
            <a:off x="6335441" y="2230000"/>
            <a:ext cx="5504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과제명, 기간, 분야, 연구책임자, 비목별 금액 — 1.3h</a:t>
            </a:r>
          </a:p>
        </p:txBody>
      </p:sp>
      <p:sp>
        <p:nvSpPr>
          <p:cNvPr id="30" name="D30"/>
          <p:cNvSpPr/>
          <p:nvPr/>
        </p:nvSpPr>
        <p:spPr>
          <a:xfrm>
            <a:off x="6335441" y="2515000"/>
            <a:ext cx="55040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정량 목표, 성과지표, 연구시설, 요약문 — 0.7h</a:t>
            </a:r>
          </a:p>
        </p:txBody>
      </p:sp>
      <p:sp>
        <p:nvSpPr>
          <p:cNvPr id="31" name="D31"/>
          <p:cNvSpPr/>
          <p:nvPr/>
        </p:nvSpPr>
        <p:spPr>
          <a:xfrm>
            <a:off x="751441" y="2900000"/>
            <a:ext cx="11088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Phase 4. 최종 검수 + 제출 (4/15 PM, 14:00~18:00) — 4h</a:t>
            </a:r>
          </a:p>
        </p:txBody>
      </p:sp>
      <p:sp>
        <p:nvSpPr>
          <p:cNvPr id="32" name="D32"/>
          <p:cNvSpPr/>
          <p:nvPr/>
        </p:nvSpPr>
        <p:spPr>
          <a:xfrm>
            <a:off x="751441" y="3250000"/>
            <a:ext cx="3642666" cy="26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#</a:t>
            </a:r>
          </a:p>
        </p:txBody>
      </p:sp>
      <p:sp>
        <p:nvSpPr>
          <p:cNvPr id="33" name="D33"/>
          <p:cNvSpPr/>
          <p:nvPr/>
        </p:nvSpPr>
        <p:spPr>
          <a:xfrm>
            <a:off x="751441" y="3510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4.1</a:t>
            </a:r>
          </a:p>
        </p:txBody>
      </p:sp>
      <p:sp>
        <p:nvSpPr>
          <p:cNvPr id="34" name="D34"/>
          <p:cNvSpPr/>
          <p:nvPr/>
        </p:nvSpPr>
        <p:spPr>
          <a:xfrm>
            <a:off x="751441" y="3795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4.2~4</a:t>
            </a:r>
          </a:p>
        </p:txBody>
      </p:sp>
      <p:sp>
        <p:nvSpPr>
          <p:cNvPr id="35" name="D35"/>
          <p:cNvSpPr/>
          <p:nvPr/>
        </p:nvSpPr>
        <p:spPr>
          <a:xfrm>
            <a:off x="751441" y="4080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4.5~8</a:t>
            </a:r>
          </a:p>
        </p:txBody>
      </p:sp>
      <p:sp>
        <p:nvSpPr>
          <p:cNvPr id="36" name="D36"/>
          <p:cNvSpPr/>
          <p:nvPr/>
        </p:nvSpPr>
        <p:spPr>
          <a:xfrm>
            <a:off x="4474107" y="3250000"/>
            <a:ext cx="3642666" cy="26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작업</a:t>
            </a:r>
          </a:p>
        </p:txBody>
      </p:sp>
      <p:sp>
        <p:nvSpPr>
          <p:cNvPr id="37" name="D37"/>
          <p:cNvSpPr/>
          <p:nvPr/>
        </p:nvSpPr>
        <p:spPr>
          <a:xfrm>
            <a:off x="4474107" y="3510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본문1 최종 검수 (2차 통독)</a:t>
            </a:r>
          </a:p>
        </p:txBody>
      </p:sp>
      <p:sp>
        <p:nvSpPr>
          <p:cNvPr id="38" name="D38"/>
          <p:cNvSpPr/>
          <p:nvPr/>
        </p:nvSpPr>
        <p:spPr>
          <a:xfrm>
            <a:off x="4474107" y="3795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본문1+첨부서류 IRIS 업로드</a:t>
            </a:r>
          </a:p>
        </p:txBody>
      </p:sp>
      <p:sp>
        <p:nvSpPr>
          <p:cNvPr id="39" name="D39"/>
          <p:cNvSpPr/>
          <p:nvPr/>
        </p:nvSpPr>
        <p:spPr>
          <a:xfrm>
            <a:off x="4474107" y="4080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유효성 점검 → 제출 → 스크린샷</a:t>
            </a:r>
          </a:p>
        </p:txBody>
      </p:sp>
      <p:sp>
        <p:nvSpPr>
          <p:cNvPr id="40" name="D40"/>
          <p:cNvSpPr/>
          <p:nvPr/>
        </p:nvSpPr>
        <p:spPr>
          <a:xfrm>
            <a:off x="8196773" y="3250000"/>
            <a:ext cx="3642666" cy="26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+mn-ea"/>
                <a:ea typeface="+mn-ea"/>
              </a:rPr>
              <a:t>상세</a:t>
            </a:r>
          </a:p>
        </p:txBody>
      </p:sp>
      <p:sp>
        <p:nvSpPr>
          <p:cNvPr id="41" name="D41"/>
          <p:cNvSpPr/>
          <p:nvPr/>
        </p:nvSpPr>
        <p:spPr>
          <a:xfrm>
            <a:off x="8196773" y="3510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수치 정합성, 표현 통일, 오탈자 — 1.0h</a:t>
            </a:r>
          </a:p>
        </p:txBody>
      </p:sp>
      <p:sp>
        <p:nvSpPr>
          <p:cNvPr id="42" name="D42"/>
          <p:cNvSpPr/>
          <p:nvPr/>
        </p:nvSpPr>
        <p:spPr>
          <a:xfrm>
            <a:off x="8196773" y="3795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HWP 업로드+5종 업로드+확인 — 1.0h</a:t>
            </a:r>
          </a:p>
        </p:txBody>
      </p:sp>
      <p:sp>
        <p:nvSpPr>
          <p:cNvPr id="43" name="D43"/>
          <p:cNvSpPr/>
          <p:nvPr/>
        </p:nvSpPr>
        <p:spPr>
          <a:xfrm>
            <a:off x="8196773" y="4080000"/>
            <a:ext cx="3642666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비상 버퍼 1.2h 포함 — 2.0h</a:t>
            </a:r>
          </a:p>
        </p:txBody>
      </p:sp>
      <p:sp>
        <p:nvSpPr>
          <p:cNvPr id="44" name="D44"/>
          <p:cNvSpPr/>
          <p:nvPr/>
        </p:nvSpPr>
        <p:spPr>
          <a:xfrm>
            <a:off x="751441" y="4465000"/>
            <a:ext cx="11088000" cy="30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+mn-ea"/>
                <a:ea typeface="+mn-ea"/>
              </a:rPr>
              <a:t>리스크 및 대응</a:t>
            </a:r>
          </a:p>
        </p:txBody>
      </p:sp>
      <p:sp>
        <p:nvSpPr>
          <p:cNvPr id="45" name="D45"/>
          <p:cNvSpPr/>
          <p:nvPr/>
        </p:nvSpPr>
        <p:spPr>
          <a:xfrm>
            <a:off x="751441" y="4815000"/>
            <a:ext cx="71552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R1 IRIS 연구자/기관 미등록 [치명]</a:t>
            </a:r>
          </a:p>
        </p:txBody>
      </p:sp>
      <p:sp>
        <p:nvSpPr>
          <p:cNvPr id="46" name="D46"/>
          <p:cNvSpPr/>
          <p:nvPr/>
        </p:nvSpPr>
        <p:spPr>
          <a:xfrm>
            <a:off x="7986641" y="4815000"/>
            <a:ext cx="38528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Phase 0에서 즉시 확인, NRI 전환 최대 1일 소요</a:t>
            </a:r>
          </a:p>
        </p:txBody>
      </p:sp>
      <p:sp>
        <p:nvSpPr>
          <p:cNvPr id="47" name="D47"/>
          <p:cNvSpPr/>
          <p:nvPr/>
        </p:nvSpPr>
        <p:spPr>
          <a:xfrm>
            <a:off x="751441" y="5100000"/>
            <a:ext cx="71552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R3 [__] 기술 스펙 미확정 [높음]</a:t>
            </a:r>
          </a:p>
        </p:txBody>
      </p:sp>
      <p:sp>
        <p:nvSpPr>
          <p:cNvPr id="48" name="D48"/>
          <p:cNvSpPr/>
          <p:nvPr/>
        </p:nvSpPr>
        <p:spPr>
          <a:xfrm>
            <a:off x="7986641" y="5100000"/>
            <a:ext cx="38528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기존 시제품 실측치 기반 보수적 목표 우선 기입</a:t>
            </a:r>
          </a:p>
        </p:txBody>
      </p:sp>
      <p:sp>
        <p:nvSpPr>
          <p:cNvPr id="49" name="D49"/>
          <p:cNvSpPr/>
          <p:nvPr/>
        </p:nvSpPr>
        <p:spPr>
          <a:xfrm>
            <a:off x="751441" y="5385000"/>
            <a:ext cx="71552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R6 IRIS 마감 직전 시스템 장애 [높음]</a:t>
            </a:r>
          </a:p>
        </p:txBody>
      </p:sp>
      <p:sp>
        <p:nvSpPr>
          <p:cNvPr id="50" name="D50"/>
          <p:cNvSpPr/>
          <p:nvPr/>
        </p:nvSpPr>
        <p:spPr>
          <a:xfrm>
            <a:off x="7986641" y="5385000"/>
            <a:ext cx="3852800" cy="24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ko-KR" altLang="en-US" sz="1000" dirty="0">
                <a:solidFill>
                  <a:srgbClr val="333333"/>
                </a:solidFill>
                <a:latin typeface="+mn-ea"/>
                <a:ea typeface="+mn-ea"/>
              </a:rPr>
              <a:t>4/15 16:00 목표 제출 (2시간 버퍼 확보)</a:t>
            </a:r>
          </a:p>
        </p:txBody>
      </p:sp>
    </p:spTree>
    <p:extLst>
      <p:ext uri="{BB962C8B-B14F-4D97-AF65-F5344CB8AC3E}">
        <p14:creationId xmlns:p14="http://schemas.microsoft.com/office/powerpoint/2010/main" val="2805933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916B38-69FC-4B70-A6FA-6F5E4C4F8E3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6d3d7a2-3cb9-40d6-9c89-718e3c0e8c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9671</TotalTime>
  <Words>2980</Words>
  <Application>Microsoft Office PowerPoint</Application>
  <PresentationFormat>와이드스크린</PresentationFormat>
  <Paragraphs>815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나눔스퀘어 네오 Heavy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지우 김</dc:creator>
  <cp:lastModifiedBy>관리자 에이티엘</cp:lastModifiedBy>
  <cp:revision>394</cp:revision>
  <cp:lastPrinted>2026-04-13T07:05:17Z</cp:lastPrinted>
  <dcterms:created xsi:type="dcterms:W3CDTF">2025-10-16T07:39:58Z</dcterms:created>
  <dcterms:modified xsi:type="dcterms:W3CDTF">2026-04-14T06:49:07Z</dcterms:modified>
</cp:coreProperties>
</file>